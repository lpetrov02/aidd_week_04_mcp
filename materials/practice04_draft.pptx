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Введение" id="{203b2875-9cf4-a728-50c1-b53a0ae218c8}">
          <p14:sldIdLst>
            <p14:sldId id="256"/>
            <p14:sldId id="257"/>
            <p14:sldId id="258"/>
            <p14:sldId id="259"/>
          </p14:sldIdLst>
        </p14:section>
        <p14:section name="Часть 1. Tools" id="{8df7ee18-eb17-1a60-be8d-a998312295c9}">
          <p14:sldIdLst>
            <p14:sldId id="260"/>
            <p14:sldId id="261"/>
            <p14:sldId id="262"/>
            <p14:sldId id="263"/>
            <p14:sldId id="264"/>
            <p14:sldId id="265"/>
          </p14:sldIdLst>
        </p14:section>
        <p14:section name="Часть 2. Отчёт" id="{8dd5b6e8-78f5-c172-2efc-60798408827e}">
          <p14:sldIdLst>
            <p14:sldId id="266"/>
            <p14:sldId id="267"/>
          </p14:sldIdLst>
        </p14:section>
        <p14:section name="Часть 3. Prompts" id="{41137b08-1108-4441-f3d7-0ece21c662d6}">
          <p14:sldIdLst>
            <p14:sldId id="268"/>
            <p14:sldId id="269"/>
          </p14:sldIdLst>
        </p14:section>
        <p14:section name="Часть 4. Resources" id="{d2dd406a-04c3-694d-b60a-287d3cf59a3f}">
          <p14:sldIdLst>
            <p14:sldId id="270"/>
            <p14:sldId id="271"/>
          </p14:sldIdLst>
        </p14:section>
        <p14:section name="Часть 5. Изоляция" id="{9833563a-80d9-98ac-434a-aba4112583eb}">
          <p14:sldIdLst>
            <p14:sldId id="272"/>
            <p14:sldId id="273"/>
            <p14:sldId id="274"/>
          </p14:sldIdLst>
        </p14:section>
        <p14:section name="Часть 6. n8n" id="{2449bb51-eaea-d858-5361-0ec78eafea53}">
          <p14:sldIdLst>
            <p14:sldId id="275"/>
            <p14:sldId id="276"/>
          </p14:sldIdLst>
        </p14:section>
        <p14:section name="Отладка и итоги" id="{468a97a8-39c9-b586-f295-1575f86f512b}">
          <p14:sldIdLst>
            <p14:sldId id="277"/>
            <p14:sldId id="27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Практика к теме 4. Всё, что на слайдах, подробно расписано в README.md репозитория практики: команды, конфиги, таблица отладки.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Ориентир по времени: часть 1 — 1–1,5 часа (с замерами 1.8–1.10), часть 2 — 40–60 минут из-за прогонов агента, части 3 и 4 — по 15–25 минут, часть 5 — 20–30 минут.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Сервер не трогает БД сам, а ходит в REST API — поэтому вся валидация в одном месте. Подпись БД нужна, чтобы агент не мог обойти MCP, просто переписав файл.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Критерий готовности: UI открывается на 127.0.0.1:5000, qwen отвечает на простой вопрос. Ключ лучше задать переменной окружения и не коммитить.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История: без доступа агент не справляется, с адресом ходит curl'ом, hook это запрещает, MCP возвращает доступ, но только через узкий набор действий.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1.2: адрес и таблицу REST API можно просто вставить в чат той же сессии. 1.3: после подключения hook перезапустите qwen или откройте /hooks.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 JSON команда в одну строку: python "$QWEN_PROJECT_DIR/.qwen/hooks/guard.py". Hooks проекта загружаются только в доверенной папке. MCP-tools в Qwen называются mcp__&lt;сервер&gt;__&lt;tool&gt;, shell — run_shell_command.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Docstring tool — это то, что увидит модель. Обратите внимание на TodoError: ожидаемые ошибки сервер отдаёт модели текстом, чтобы она могла исправить вызов.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command — вывод which python, args — абсолютный путь до server.py. Elicitation в чистом виде можно показать в Inspector или Claude Code.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API умеет фильтровать только по done, остальное студенты делают в server.py после _get. Правильные ответы на вопросы считают сами — скриптом или по UI.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Самая длинная часть из-за прогонов агента. Не подсказывайте решения: вывод «это надо записать один раз» студенты делают сами.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Пусть сами увидят, что агент каждый раз ставит библиотеки и пишет код с нуля. 2.4 — подводка к готовым инструментам (MCP для Excel) и своим skills.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Короткая часть, 15–25 минут.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Если Qwen не показывает prompt как команду, текст сценария можно получить в Inspector. В Claude Code prompts видны как /mcp__todo__&lt;имя&gt;.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Короткая часть, 15–20 минут. Вопрос про безопасность resource — на подумать.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 Qwen ресурсы подключаются как @&lt;сервер&gt;:&lt;uri&gt;. Пример resource по шаблону todo://tasks/{task_id} уже есть в server.py.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Отдельный пункт, не про атаки. Главное — показать, что агента можно гонять в изолированном окружении. Образ лучше собрать заранее: сборка занимает 1–2 минуты.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Полная команда сборки — в README, часть 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Ключ передаётся только переменной окружения: его нет ни в образе, ни в файле. settings.docker.json подставляется поверх settings.json только внутри контейнера, файл на диске не меняется.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Мини-инструкция: граф нод от триггера, секреты только в Credentials. Подробности — на n8n.io.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Полная таблица — в разделе «Тесты и отладка» README.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Связать с итогами лекции: доступ — MCP, гарантия — hook, знание — skill.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011680"/>
            <a:ext cx="676656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931920"/>
            <a:ext cx="676656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31520" y="1828800"/>
            <a:ext cx="274320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6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6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31520" y="3017520"/>
            <a:ext cx="1051560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731520" y="4023360"/>
            <a:ext cx="10515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922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BD5E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74552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ctr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896112"/>
            <a:ext cx="11274552" cy="38404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600" dirty="0">
                <a:solidFill>
                  <a:schemeClr val="tx1"/>
                </a:solidFill>
              </a:defRPr>
            </a:lvl1pPr>
          </a:lstStyle>
          <a:p>
            <a:pPr algn="ctr" indent="0" marL="0">
              <a:buNone/>
            </a:pP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922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922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BD5E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image" Target="../media/image-19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7" Type="http://schemas.openxmlformats.org/officeDocument/2006/relationships/hyperlink" Target="https://n8n.io" TargetMode="External"/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image" Target="../media/image-21-4.png"/><Relationship Id="rId5" Type="http://schemas.openxmlformats.org/officeDocument/2006/relationships/image" Target="../media/image-21-5.png"/><Relationship Id="rId6" Type="http://schemas.openxmlformats.org/officeDocument/2006/relationships/image" Target="../media/image-21-6.png"/><Relationship Id="rId8" Type="http://schemas.openxmlformats.org/officeDocument/2006/relationships/image" Target="../media/image-21-7.png"/><Relationship Id="rId9" Type="http://schemas.openxmlformats.org/officeDocument/2006/relationships/slideLayout" Target="../slideLayouts/slideLayout4.xml"/><Relationship Id="rId10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011680"/>
            <a:ext cx="67665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Практика: MCP, Tools и Skills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931920"/>
            <a:ext cx="6766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bg1"/>
                </a:solidFill>
              </a:rPr>
              <a:t>TODO-приложение, свой MCP-сервер и агент Qwen Code</a:t>
            </a:r>
            <a:endParaRPr lang="en-US" sz="2000" dirty="0"/>
          </a:p>
        </p:txBody>
      </p:sp>
      <p:sp>
        <p:nvSpPr>
          <p:cNvPr id="4" name="spoke"/>
          <p:cNvSpPr/>
          <p:nvPr/>
        </p:nvSpPr>
        <p:spPr>
          <a:xfrm flipH="1">
            <a:off x="9509760" y="2011680"/>
            <a:ext cx="0" cy="685800"/>
          </a:xfrm>
          <a:prstGeom prst="line">
            <a:avLst/>
          </a:prstGeom>
          <a:noFill/>
          <a:ln w="15875">
            <a:solidFill>
              <a:srgbClr val="94A3B8"/>
            </a:solidFill>
            <a:prstDash val="dash"/>
          </a:ln>
        </p:spPr>
      </p:sp>
      <p:sp>
        <p:nvSpPr>
          <p:cNvPr id="5" name="icon circle"/>
          <p:cNvSpPr/>
          <p:nvPr/>
        </p:nvSpPr>
        <p:spPr>
          <a:xfrm>
            <a:off x="9144000" y="1280160"/>
            <a:ext cx="731520" cy="7315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6" name="icon LuWrench" descr="LuWrench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04934" y="1441094"/>
            <a:ext cx="409651" cy="409651"/>
          </a:xfrm>
          <a:prstGeom prst="rect">
            <a:avLst/>
          </a:prstGeom>
        </p:spPr>
      </p:pic>
      <p:sp>
        <p:nvSpPr>
          <p:cNvPr id="7" name="spoke"/>
          <p:cNvSpPr/>
          <p:nvPr/>
        </p:nvSpPr>
        <p:spPr>
          <a:xfrm flipH="1">
            <a:off x="10143275" y="2720340"/>
            <a:ext cx="593920" cy="342900"/>
          </a:xfrm>
          <a:prstGeom prst="line">
            <a:avLst/>
          </a:prstGeom>
          <a:noFill/>
          <a:ln w="15875">
            <a:solidFill>
              <a:srgbClr val="94A3B8"/>
            </a:solidFill>
            <a:prstDash val="dash"/>
          </a:ln>
        </p:spPr>
      </p:sp>
      <p:sp>
        <p:nvSpPr>
          <p:cNvPr id="8" name="icon circle"/>
          <p:cNvSpPr/>
          <p:nvPr/>
        </p:nvSpPr>
        <p:spPr>
          <a:xfrm>
            <a:off x="10688193" y="2171700"/>
            <a:ext cx="731520" cy="73152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9" name="icon LuDatabase" descr="LuDatabas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49127" y="2332634"/>
            <a:ext cx="409651" cy="409651"/>
          </a:xfrm>
          <a:prstGeom prst="rect">
            <a:avLst/>
          </a:prstGeom>
        </p:spPr>
      </p:pic>
      <p:sp>
        <p:nvSpPr>
          <p:cNvPr id="10" name="spoke"/>
          <p:cNvSpPr/>
          <p:nvPr/>
        </p:nvSpPr>
        <p:spPr>
          <a:xfrm>
            <a:off x="10143275" y="3794760"/>
            <a:ext cx="593920" cy="342900"/>
          </a:xfrm>
          <a:prstGeom prst="line">
            <a:avLst/>
          </a:prstGeom>
          <a:noFill/>
          <a:ln w="15875">
            <a:solidFill>
              <a:srgbClr val="94A3B8"/>
            </a:solidFill>
            <a:prstDash val="dash"/>
          </a:ln>
        </p:spPr>
      </p:sp>
      <p:sp>
        <p:nvSpPr>
          <p:cNvPr id="11" name="icon circle"/>
          <p:cNvSpPr/>
          <p:nvPr/>
        </p:nvSpPr>
        <p:spPr>
          <a:xfrm>
            <a:off x="10688193" y="3954780"/>
            <a:ext cx="731520" cy="73152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12" name="icon LuShieldCheck" descr="LuShieldCheck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49127" y="4115714"/>
            <a:ext cx="409651" cy="409651"/>
          </a:xfrm>
          <a:prstGeom prst="rect">
            <a:avLst/>
          </a:prstGeom>
        </p:spPr>
      </p:pic>
      <p:sp>
        <p:nvSpPr>
          <p:cNvPr id="13" name="spoke"/>
          <p:cNvSpPr/>
          <p:nvPr/>
        </p:nvSpPr>
        <p:spPr>
          <a:xfrm>
            <a:off x="9509760" y="4160520"/>
            <a:ext cx="0" cy="685800"/>
          </a:xfrm>
          <a:prstGeom prst="line">
            <a:avLst/>
          </a:prstGeom>
          <a:noFill/>
          <a:ln w="15875">
            <a:solidFill>
              <a:srgbClr val="94A3B8"/>
            </a:solidFill>
            <a:prstDash val="dash"/>
          </a:ln>
        </p:spPr>
      </p:sp>
      <p:sp>
        <p:nvSpPr>
          <p:cNvPr id="14" name="icon circle"/>
          <p:cNvSpPr/>
          <p:nvPr/>
        </p:nvSpPr>
        <p:spPr>
          <a:xfrm>
            <a:off x="9144000" y="4846320"/>
            <a:ext cx="731520" cy="73152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15" name="icon LuFileSpreadsheet" descr="LuFileSpreadsheet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04934" y="5007254"/>
            <a:ext cx="409651" cy="409651"/>
          </a:xfrm>
          <a:prstGeom prst="rect">
            <a:avLst/>
          </a:prstGeom>
        </p:spPr>
      </p:pic>
      <p:sp>
        <p:nvSpPr>
          <p:cNvPr id="16" name="spoke"/>
          <p:cNvSpPr/>
          <p:nvPr/>
        </p:nvSpPr>
        <p:spPr>
          <a:xfrm flipH="1">
            <a:off x="8282325" y="3794760"/>
            <a:ext cx="593920" cy="342900"/>
          </a:xfrm>
          <a:prstGeom prst="line">
            <a:avLst/>
          </a:prstGeom>
          <a:noFill/>
          <a:ln w="15875">
            <a:solidFill>
              <a:srgbClr val="94A3B8"/>
            </a:solidFill>
            <a:prstDash val="dash"/>
          </a:ln>
        </p:spPr>
      </p:sp>
      <p:sp>
        <p:nvSpPr>
          <p:cNvPr id="17" name="icon circle"/>
          <p:cNvSpPr/>
          <p:nvPr/>
        </p:nvSpPr>
        <p:spPr>
          <a:xfrm>
            <a:off x="7599807" y="3954780"/>
            <a:ext cx="731520" cy="73152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18" name="icon LuMessageSquare" descr="LuMessageSquare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60742" y="4115714"/>
            <a:ext cx="409651" cy="409651"/>
          </a:xfrm>
          <a:prstGeom prst="rect">
            <a:avLst/>
          </a:prstGeom>
        </p:spPr>
      </p:pic>
      <p:sp>
        <p:nvSpPr>
          <p:cNvPr id="19" name="spoke"/>
          <p:cNvSpPr/>
          <p:nvPr/>
        </p:nvSpPr>
        <p:spPr>
          <a:xfrm>
            <a:off x="8282325" y="2720340"/>
            <a:ext cx="593920" cy="342900"/>
          </a:xfrm>
          <a:prstGeom prst="line">
            <a:avLst/>
          </a:prstGeom>
          <a:noFill/>
          <a:ln w="15875">
            <a:solidFill>
              <a:srgbClr val="94A3B8"/>
            </a:solidFill>
            <a:prstDash val="dash"/>
          </a:ln>
        </p:spPr>
      </p:sp>
      <p:sp>
        <p:nvSpPr>
          <p:cNvPr id="20" name="icon circle"/>
          <p:cNvSpPr/>
          <p:nvPr/>
        </p:nvSpPr>
        <p:spPr>
          <a:xfrm>
            <a:off x="7599807" y="217170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1" name="icon LuBookOpen" descr="LuBookOpen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60742" y="2332634"/>
            <a:ext cx="409651" cy="409651"/>
          </a:xfrm>
          <a:prstGeom prst="rect">
            <a:avLst/>
          </a:prstGeom>
        </p:spPr>
      </p:pic>
      <p:sp>
        <p:nvSpPr>
          <p:cNvPr id="22" name="icon circle"/>
          <p:cNvSpPr/>
          <p:nvPr/>
        </p:nvSpPr>
        <p:spPr>
          <a:xfrm>
            <a:off x="8823960" y="2743200"/>
            <a:ext cx="1371600" cy="13716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3" name="icon LuBot" descr="LuBot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25712" y="3044952"/>
            <a:ext cx="768096" cy="76809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План практики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896112"/>
            <a:ext cx="11274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Одно приложение, шесть частей: от агента без доступа до автоматизации</a:t>
            </a:r>
            <a:endParaRPr lang="en-US" sz="1600" dirty="0"/>
          </a:p>
        </p:txBody>
      </p:sp>
      <p:sp>
        <p:nvSpPr>
          <p:cNvPr id="4" name="card"/>
          <p:cNvSpPr/>
          <p:nvPr/>
        </p:nvSpPr>
        <p:spPr>
          <a:xfrm>
            <a:off x="457200" y="1600200"/>
            <a:ext cx="3566160" cy="1783080"/>
          </a:xfrm>
          <a:prstGeom prst="roundRect">
            <a:avLst>
              <a:gd name="adj" fmla="val 6154"/>
            </a:avLst>
          </a:prstGeom>
          <a:solidFill>
            <a:schemeClr val="accent1">
              <a:alpha val="10000"/>
            </a:schemeClr>
          </a:solidFill>
          <a:ln w="12700">
            <a:solidFill>
              <a:schemeClr val="accent1">
                <a:alpha val="45000"/>
              </a:schemeClr>
            </a:solidFill>
            <a:prstDash val="solid"/>
          </a:ln>
        </p:spPr>
      </p:sp>
      <p:sp>
        <p:nvSpPr>
          <p:cNvPr id="5" name="number"/>
          <p:cNvSpPr/>
          <p:nvPr/>
        </p:nvSpPr>
        <p:spPr>
          <a:xfrm>
            <a:off x="658368" y="2208276"/>
            <a:ext cx="566928" cy="5669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417320" y="1709928"/>
            <a:ext cx="2423160" cy="1563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Tools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агент без MCP, curl и hook, свой MCP-сервер и list_tasks под агента</a:t>
            </a:r>
            <a:endParaRPr lang="en-US" sz="1500" dirty="0"/>
          </a:p>
        </p:txBody>
      </p:sp>
      <p:sp>
        <p:nvSpPr>
          <p:cNvPr id="7" name="card"/>
          <p:cNvSpPr/>
          <p:nvPr/>
        </p:nvSpPr>
        <p:spPr>
          <a:xfrm>
            <a:off x="4311396" y="1600200"/>
            <a:ext cx="3566160" cy="1783080"/>
          </a:xfrm>
          <a:prstGeom prst="roundRect">
            <a:avLst>
              <a:gd name="adj" fmla="val 6154"/>
            </a:avLst>
          </a:prstGeom>
          <a:solidFill>
            <a:schemeClr val="accent3">
              <a:alpha val="10000"/>
            </a:schemeClr>
          </a:solidFill>
          <a:ln w="12700">
            <a:solidFill>
              <a:schemeClr val="accent3">
                <a:alpha val="45000"/>
              </a:schemeClr>
            </a:solidFill>
            <a:prstDash val="solid"/>
          </a:ln>
        </p:spPr>
      </p:sp>
      <p:sp>
        <p:nvSpPr>
          <p:cNvPr id="8" name="number"/>
          <p:cNvSpPr/>
          <p:nvPr/>
        </p:nvSpPr>
        <p:spPr>
          <a:xfrm>
            <a:off x="4512564" y="2208276"/>
            <a:ext cx="566928" cy="56692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5271516" y="1709928"/>
            <a:ext cx="2423160" cy="1563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Отчёт по задачам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Excel-отчёт силами агента: сколько шагов и токенов, насколько стабильно</a:t>
            </a:r>
            <a:endParaRPr lang="en-US" sz="1500" dirty="0"/>
          </a:p>
        </p:txBody>
      </p:sp>
      <p:sp>
        <p:nvSpPr>
          <p:cNvPr id="10" name="card"/>
          <p:cNvSpPr/>
          <p:nvPr/>
        </p:nvSpPr>
        <p:spPr>
          <a:xfrm>
            <a:off x="8165592" y="1600200"/>
            <a:ext cx="3566160" cy="1783080"/>
          </a:xfrm>
          <a:prstGeom prst="roundRect">
            <a:avLst>
              <a:gd name="adj" fmla="val 6154"/>
            </a:avLst>
          </a:prstGeom>
          <a:solidFill>
            <a:schemeClr val="accent4">
              <a:alpha val="10000"/>
            </a:schemeClr>
          </a:solidFill>
          <a:ln w="12700">
            <a:solidFill>
              <a:schemeClr val="accent4">
                <a:alpha val="45000"/>
              </a:schemeClr>
            </a:solidFill>
            <a:prstDash val="solid"/>
          </a:ln>
        </p:spPr>
      </p:sp>
      <p:sp>
        <p:nvSpPr>
          <p:cNvPr id="11" name="number"/>
          <p:cNvSpPr/>
          <p:nvPr/>
        </p:nvSpPr>
        <p:spPr>
          <a:xfrm>
            <a:off x="8366760" y="2208276"/>
            <a:ext cx="566928" cy="56692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9125712" y="1709928"/>
            <a:ext cx="2423160" cy="1563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Prompts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свой сценарий @mcp.prompt() и зачем он нужен, если есть чат</a:t>
            </a:r>
            <a:endParaRPr lang="en-US" sz="1500" dirty="0"/>
          </a:p>
        </p:txBody>
      </p:sp>
      <p:sp>
        <p:nvSpPr>
          <p:cNvPr id="13" name="card"/>
          <p:cNvSpPr/>
          <p:nvPr/>
        </p:nvSpPr>
        <p:spPr>
          <a:xfrm>
            <a:off x="457200" y="3657600"/>
            <a:ext cx="3566160" cy="1783080"/>
          </a:xfrm>
          <a:prstGeom prst="roundRect">
            <a:avLst>
              <a:gd name="adj" fmla="val 6154"/>
            </a:avLst>
          </a:prstGeom>
          <a:solidFill>
            <a:schemeClr val="accent5">
              <a:alpha val="10000"/>
            </a:schemeClr>
          </a:solidFill>
          <a:ln w="12700">
            <a:solidFill>
              <a:schemeClr val="accent5">
                <a:alpha val="45000"/>
              </a:schemeClr>
            </a:solidFill>
            <a:prstDash val="solid"/>
          </a:ln>
        </p:spPr>
      </p:sp>
      <p:sp>
        <p:nvSpPr>
          <p:cNvPr id="14" name="number"/>
          <p:cNvSpPr/>
          <p:nvPr/>
        </p:nvSpPr>
        <p:spPr>
          <a:xfrm>
            <a:off x="658368" y="4265676"/>
            <a:ext cx="566928" cy="56692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1417320" y="3767328"/>
            <a:ext cx="2423160" cy="1563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Resources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свой resource: данные, которые в контекст кладёт host</a:t>
            </a:r>
            <a:endParaRPr lang="en-US" sz="1500" dirty="0"/>
          </a:p>
        </p:txBody>
      </p:sp>
      <p:sp>
        <p:nvSpPr>
          <p:cNvPr id="16" name="card"/>
          <p:cNvSpPr/>
          <p:nvPr/>
        </p:nvSpPr>
        <p:spPr>
          <a:xfrm>
            <a:off x="4311396" y="3657600"/>
            <a:ext cx="3566160" cy="1783080"/>
          </a:xfrm>
          <a:prstGeom prst="roundRect">
            <a:avLst>
              <a:gd name="adj" fmla="val 6154"/>
            </a:avLst>
          </a:prstGeom>
          <a:solidFill>
            <a:schemeClr val="accent6">
              <a:alpha val="10000"/>
            </a:schemeClr>
          </a:solidFill>
          <a:ln w="12700">
            <a:solidFill>
              <a:schemeClr val="accent6">
                <a:alpha val="45000"/>
              </a:schemeClr>
            </a:solidFill>
            <a:prstDash val="solid"/>
          </a:ln>
        </p:spPr>
      </p:sp>
      <p:sp>
        <p:nvSpPr>
          <p:cNvPr id="17" name="number"/>
          <p:cNvSpPr/>
          <p:nvPr/>
        </p:nvSpPr>
        <p:spPr>
          <a:xfrm>
            <a:off x="4512564" y="4265676"/>
            <a:ext cx="566928" cy="566928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5271516" y="3767328"/>
            <a:ext cx="2423160" cy="1563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Агент в контейнере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тот же агент в изолированном окружении</a:t>
            </a:r>
            <a:endParaRPr lang="en-US" sz="1500" dirty="0"/>
          </a:p>
        </p:txBody>
      </p:sp>
      <p:sp>
        <p:nvSpPr>
          <p:cNvPr id="19" name="card"/>
          <p:cNvSpPr/>
          <p:nvPr/>
        </p:nvSpPr>
        <p:spPr>
          <a:xfrm>
            <a:off x="8165592" y="3657600"/>
            <a:ext cx="3566160" cy="1783080"/>
          </a:xfrm>
          <a:prstGeom prst="roundRect">
            <a:avLst>
              <a:gd name="adj" fmla="val 6154"/>
            </a:avLst>
          </a:prstGeom>
          <a:solidFill>
            <a:schemeClr val="accent2">
              <a:alpha val="10000"/>
            </a:schemeClr>
          </a:solidFill>
          <a:ln w="12700">
            <a:solidFill>
              <a:schemeClr val="accent2">
                <a:alpha val="45000"/>
              </a:schemeClr>
            </a:solidFill>
            <a:prstDash val="solid"/>
          </a:ln>
        </p:spPr>
      </p:sp>
      <p:sp>
        <p:nvSpPr>
          <p:cNvPr id="20" name="number"/>
          <p:cNvSpPr/>
          <p:nvPr/>
        </p:nvSpPr>
        <p:spPr>
          <a:xfrm>
            <a:off x="8366760" y="4265676"/>
            <a:ext cx="566928" cy="56692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9125712" y="3767328"/>
            <a:ext cx="2423160" cy="1563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Автоматизация в n8n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платформа автоматизации: ссылка на официальный сайт</a:t>
            </a:r>
            <a:endParaRPr lang="en-US" sz="1500" dirty="0"/>
          </a:p>
        </p:txBody>
      </p:sp>
      <p:sp>
        <p:nvSpPr>
          <p:cNvPr id="22" name="takeaway"/>
          <p:cNvSpPr/>
          <p:nvPr/>
        </p:nvSpPr>
        <p:spPr>
          <a:xfrm>
            <a:off x="457200" y="5760720"/>
            <a:ext cx="11274552" cy="658368"/>
          </a:xfrm>
          <a:prstGeom prst="roundRect">
            <a:avLst>
              <a:gd name="adj" fmla="val 16667"/>
            </a:avLst>
          </a:prstGeom>
          <a:solidFill>
            <a:schemeClr val="accent1">
              <a:alpha val="10000"/>
            </a:schemeClr>
          </a:solidFill>
          <a:ln w="12700">
            <a:solidFill>
              <a:schemeClr val="accent1">
                <a:alpha val="45000"/>
              </a:schemeClr>
            </a:solidFill>
            <a:prstDash val="solid"/>
          </a:ln>
        </p:spPr>
      </p:sp>
      <p:pic>
        <p:nvPicPr>
          <p:cNvPr id="23" name="icon target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5888736"/>
            <a:ext cx="402336" cy="402336"/>
          </a:xfrm>
          <a:prstGeom prst="rect">
            <a:avLst/>
          </a:prstGeom>
        </p:spPr>
      </p:pic>
      <p:sp>
        <p:nvSpPr>
          <p:cNvPr id="24" name="Text 21"/>
          <p:cNvSpPr txBox="1"/>
          <p:nvPr/>
        </p:nvSpPr>
        <p:spPr>
          <a:xfrm>
            <a:off x="1280160" y="5815584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Подробности, команды и конфиги — в README.md репозитория практики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Слайды — карта заданий; если что-то не работает, смотрите раздел «Тесты и отладка»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922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Из чего состоит стенд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896112"/>
            <a:ext cx="11274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Агент работает с задачами через MCP-сервер, сервер — через REST API приложения</a:t>
            </a:r>
            <a:endParaRPr lang="en-US" sz="1600" dirty="0"/>
          </a:p>
        </p:txBody>
      </p:sp>
      <p:sp>
        <p:nvSpPr>
          <p:cNvPr id="4" name="card"/>
          <p:cNvSpPr/>
          <p:nvPr/>
        </p:nvSpPr>
        <p:spPr>
          <a:xfrm>
            <a:off x="457200" y="1600200"/>
            <a:ext cx="2514600" cy="1965960"/>
          </a:xfrm>
          <a:prstGeom prst="roundRect">
            <a:avLst>
              <a:gd name="adj" fmla="val 5581"/>
            </a:avLst>
          </a:prstGeom>
          <a:solidFill>
            <a:schemeClr val="accent4">
              <a:alpha val="10000"/>
            </a:schemeClr>
          </a:solidFill>
          <a:ln w="12700">
            <a:solidFill>
              <a:schemeClr val="accent4">
                <a:alpha val="45000"/>
              </a:schemeClr>
            </a:solidFill>
            <a:prstDash val="solid"/>
          </a:ln>
        </p:spPr>
      </p:sp>
      <p:sp>
        <p:nvSpPr>
          <p:cNvPr id="5" name="icon circle"/>
          <p:cNvSpPr/>
          <p:nvPr/>
        </p:nvSpPr>
        <p:spPr>
          <a:xfrm>
            <a:off x="1385316" y="1828800"/>
            <a:ext cx="658368" cy="65836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6" name="icon LuBot" descr="LuBo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30157" y="1973641"/>
            <a:ext cx="368686" cy="36868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94360" y="260604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Qwen Code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306324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host и агент: запускает сервер как процесс</a:t>
            </a:r>
            <a:endParaRPr lang="en-US" sz="1400" dirty="0"/>
          </a:p>
        </p:txBody>
      </p:sp>
      <p:sp>
        <p:nvSpPr>
          <p:cNvPr id="9" name="arrow"/>
          <p:cNvSpPr/>
          <p:nvPr/>
        </p:nvSpPr>
        <p:spPr>
          <a:xfrm>
            <a:off x="3008376" y="2583180"/>
            <a:ext cx="329184" cy="0"/>
          </a:xfrm>
          <a:prstGeom prst="line">
            <a:avLst/>
          </a:prstGeom>
          <a:noFill/>
          <a:ln w="22225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0" name="Text 7"/>
          <p:cNvSpPr txBox="1"/>
          <p:nvPr/>
        </p:nvSpPr>
        <p:spPr>
          <a:xfrm>
            <a:off x="2880360" y="2253996"/>
            <a:ext cx="585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stdio</a:t>
            </a:r>
            <a:endParaRPr lang="en-US" sz="1100" dirty="0"/>
          </a:p>
        </p:txBody>
      </p:sp>
      <p:sp>
        <p:nvSpPr>
          <p:cNvPr id="11" name="card"/>
          <p:cNvSpPr/>
          <p:nvPr/>
        </p:nvSpPr>
        <p:spPr>
          <a:xfrm>
            <a:off x="3374136" y="1600200"/>
            <a:ext cx="2514600" cy="1965960"/>
          </a:xfrm>
          <a:prstGeom prst="roundRect">
            <a:avLst>
              <a:gd name="adj" fmla="val 5581"/>
            </a:avLst>
          </a:prstGeom>
          <a:solidFill>
            <a:schemeClr val="accent1">
              <a:alpha val="10000"/>
            </a:schemeClr>
          </a:solidFill>
          <a:ln w="12700">
            <a:solidFill>
              <a:schemeClr val="accent1">
                <a:alpha val="45000"/>
              </a:schemeClr>
            </a:solidFill>
            <a:prstDash val="solid"/>
          </a:ln>
        </p:spPr>
      </p:sp>
      <p:sp>
        <p:nvSpPr>
          <p:cNvPr id="12" name="icon circle"/>
          <p:cNvSpPr/>
          <p:nvPr/>
        </p:nvSpPr>
        <p:spPr>
          <a:xfrm>
            <a:off x="4302252" y="1828800"/>
            <a:ext cx="658368" cy="65836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3" name="icon LuServer" descr="LuServe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7093" y="1973641"/>
            <a:ext cx="368686" cy="368686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3511296" y="260604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MCP-сервер todo</a:t>
            </a:r>
            <a:endParaRPr lang="en-US" sz="1700" dirty="0"/>
          </a:p>
        </p:txBody>
      </p:sp>
      <p:sp>
        <p:nvSpPr>
          <p:cNvPr id="15" name="Text 11"/>
          <p:cNvSpPr txBox="1"/>
          <p:nvPr/>
        </p:nvSpPr>
        <p:spPr>
          <a:xfrm>
            <a:off x="3557016" y="306324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practice/mcp/server.py: tools, resource, prompt</a:t>
            </a:r>
            <a:endParaRPr lang="en-US" sz="1400" dirty="0"/>
          </a:p>
        </p:txBody>
      </p:sp>
      <p:sp>
        <p:nvSpPr>
          <p:cNvPr id="16" name="arrow"/>
          <p:cNvSpPr/>
          <p:nvPr/>
        </p:nvSpPr>
        <p:spPr>
          <a:xfrm>
            <a:off x="5925312" y="2583180"/>
            <a:ext cx="329184" cy="0"/>
          </a:xfrm>
          <a:prstGeom prst="line">
            <a:avLst/>
          </a:prstGeom>
          <a:noFill/>
          <a:ln w="22225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7" name="Text 13"/>
          <p:cNvSpPr txBox="1"/>
          <p:nvPr/>
        </p:nvSpPr>
        <p:spPr>
          <a:xfrm>
            <a:off x="5797296" y="2253996"/>
            <a:ext cx="585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HTTP</a:t>
            </a:r>
            <a:endParaRPr lang="en-US" sz="1100" dirty="0"/>
          </a:p>
        </p:txBody>
      </p:sp>
      <p:sp>
        <p:nvSpPr>
          <p:cNvPr id="18" name="card"/>
          <p:cNvSpPr/>
          <p:nvPr/>
        </p:nvSpPr>
        <p:spPr>
          <a:xfrm>
            <a:off x="6291072" y="1600200"/>
            <a:ext cx="2514600" cy="1965960"/>
          </a:xfrm>
          <a:prstGeom prst="roundRect">
            <a:avLst>
              <a:gd name="adj" fmla="val 5581"/>
            </a:avLst>
          </a:prstGeom>
          <a:solidFill>
            <a:schemeClr val="accent2">
              <a:alpha val="10000"/>
            </a:schemeClr>
          </a:solidFill>
          <a:ln w="12700">
            <a:solidFill>
              <a:schemeClr val="accent2">
                <a:alpha val="45000"/>
              </a:schemeClr>
            </a:solidFill>
            <a:prstDash val="solid"/>
          </a:ln>
        </p:spPr>
      </p:sp>
      <p:sp>
        <p:nvSpPr>
          <p:cNvPr id="19" name="icon circle"/>
          <p:cNvSpPr/>
          <p:nvPr/>
        </p:nvSpPr>
        <p:spPr>
          <a:xfrm>
            <a:off x="7219188" y="1828800"/>
            <a:ext cx="658368" cy="65836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0" name="icon LuGlobe" descr="LuGlob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4029" y="1973641"/>
            <a:ext cx="368686" cy="368686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6428232" y="260604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TODO-приложение</a:t>
            </a:r>
            <a:endParaRPr lang="en-US" sz="1700" dirty="0"/>
          </a:p>
        </p:txBody>
      </p:sp>
      <p:sp>
        <p:nvSpPr>
          <p:cNvPr id="22" name="Text 17"/>
          <p:cNvSpPr txBox="1"/>
          <p:nvPr/>
        </p:nvSpPr>
        <p:spPr>
          <a:xfrm>
            <a:off x="6473952" y="306324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Flask: UI на / и REST API на /api/*</a:t>
            </a:r>
            <a:endParaRPr lang="en-US" sz="1400" dirty="0"/>
          </a:p>
        </p:txBody>
      </p:sp>
      <p:sp>
        <p:nvSpPr>
          <p:cNvPr id="23" name="arrow"/>
          <p:cNvSpPr/>
          <p:nvPr/>
        </p:nvSpPr>
        <p:spPr>
          <a:xfrm>
            <a:off x="8842248" y="2583180"/>
            <a:ext cx="329184" cy="0"/>
          </a:xfrm>
          <a:prstGeom prst="line">
            <a:avLst/>
          </a:prstGeom>
          <a:noFill/>
          <a:ln w="22225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24" name="card"/>
          <p:cNvSpPr/>
          <p:nvPr/>
        </p:nvSpPr>
        <p:spPr>
          <a:xfrm>
            <a:off x="9208008" y="1600200"/>
            <a:ext cx="2514600" cy="1965960"/>
          </a:xfrm>
          <a:prstGeom prst="roundRect">
            <a:avLst>
              <a:gd name="adj" fmla="val 5581"/>
            </a:avLst>
          </a:prstGeom>
          <a:solidFill>
            <a:schemeClr val="accent3">
              <a:alpha val="10000"/>
            </a:schemeClr>
          </a:solidFill>
          <a:ln w="12700">
            <a:solidFill>
              <a:schemeClr val="accent3">
                <a:alpha val="45000"/>
              </a:schemeClr>
            </a:solidFill>
            <a:prstDash val="solid"/>
          </a:ln>
        </p:spPr>
      </p:sp>
      <p:sp>
        <p:nvSpPr>
          <p:cNvPr id="25" name="icon circle"/>
          <p:cNvSpPr/>
          <p:nvPr/>
        </p:nvSpPr>
        <p:spPr>
          <a:xfrm>
            <a:off x="10136124" y="1828800"/>
            <a:ext cx="658368" cy="65836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26" name="icon LuDatabase" descr="LuDatabas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80965" y="1973641"/>
            <a:ext cx="368686" cy="368686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9345168" y="260604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todo_db.json</a:t>
            </a:r>
            <a:endParaRPr lang="en-US" sz="1700" dirty="0"/>
          </a:p>
        </p:txBody>
      </p:sp>
      <p:sp>
        <p:nvSpPr>
          <p:cNvPr id="28" name="Text 22"/>
          <p:cNvSpPr txBox="1"/>
          <p:nvPr/>
        </p:nvSpPr>
        <p:spPr>
          <a:xfrm>
            <a:off x="9390888" y="306324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подписан HMAC: правка руками ломает базу</a:t>
            </a:r>
            <a:endParaRPr lang="en-US" sz="1400" dirty="0"/>
          </a:p>
        </p:txBody>
      </p:sp>
      <p:sp>
        <p:nvSpPr>
          <p:cNvPr id="29" name="card"/>
          <p:cNvSpPr/>
          <p:nvPr/>
        </p:nvSpPr>
        <p:spPr>
          <a:xfrm>
            <a:off x="457200" y="3886200"/>
            <a:ext cx="2651760" cy="1554480"/>
          </a:xfrm>
          <a:prstGeom prst="roundRect">
            <a:avLst>
              <a:gd name="adj" fmla="val 7059"/>
            </a:avLst>
          </a:prstGeom>
          <a:solidFill>
            <a:schemeClr val="accent1">
              <a:alpha val="10000"/>
            </a:schemeClr>
          </a:solidFill>
          <a:ln w="12700">
            <a:solidFill>
              <a:schemeClr val="accent1">
                <a:alpha val="45000"/>
              </a:schemeClr>
            </a:solidFill>
            <a:prstDash val="solid"/>
          </a:ln>
        </p:spPr>
      </p:sp>
      <p:sp>
        <p:nvSpPr>
          <p:cNvPr id="30" name="Text 24"/>
          <p:cNvSpPr txBox="1"/>
          <p:nvPr/>
        </p:nvSpPr>
        <p:spPr>
          <a:xfrm>
            <a:off x="640080" y="40690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Tools</a:t>
            </a:r>
            <a:endParaRPr lang="en-US" sz="1700" dirty="0"/>
          </a:p>
        </p:txBody>
      </p:sp>
      <p:sp>
        <p:nvSpPr>
          <p:cNvPr id="31" name="Text 25"/>
          <p:cNvSpPr txBox="1"/>
          <p:nvPr/>
        </p:nvSpPr>
        <p:spPr>
          <a:xfrm>
            <a:off x="640080" y="44805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add_task, list_tasks, complete_task, delete_task</a:t>
            </a:r>
            <a:endParaRPr lang="en-US" sz="1400" dirty="0"/>
          </a:p>
        </p:txBody>
      </p:sp>
      <p:sp>
        <p:nvSpPr>
          <p:cNvPr id="32" name="card"/>
          <p:cNvSpPr/>
          <p:nvPr/>
        </p:nvSpPr>
        <p:spPr>
          <a:xfrm>
            <a:off x="3331159" y="3886200"/>
            <a:ext cx="2651760" cy="1554480"/>
          </a:xfrm>
          <a:prstGeom prst="roundRect">
            <a:avLst>
              <a:gd name="adj" fmla="val 7059"/>
            </a:avLst>
          </a:prstGeom>
          <a:solidFill>
            <a:schemeClr val="accent3">
              <a:alpha val="10000"/>
            </a:schemeClr>
          </a:solidFill>
          <a:ln w="12700">
            <a:solidFill>
              <a:schemeClr val="accent3">
                <a:alpha val="45000"/>
              </a:schemeClr>
            </a:solidFill>
            <a:prstDash val="solid"/>
          </a:ln>
        </p:spPr>
      </p:sp>
      <p:sp>
        <p:nvSpPr>
          <p:cNvPr id="33" name="Text 27"/>
          <p:cNvSpPr txBox="1"/>
          <p:nvPr/>
        </p:nvSpPr>
        <p:spPr>
          <a:xfrm>
            <a:off x="3514039" y="40690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Resources</a:t>
            </a:r>
            <a:endParaRPr lang="en-US" sz="1700" dirty="0"/>
          </a:p>
        </p:txBody>
      </p:sp>
      <p:sp>
        <p:nvSpPr>
          <p:cNvPr id="34" name="Text 28"/>
          <p:cNvSpPr txBox="1"/>
          <p:nvPr/>
        </p:nvSpPr>
        <p:spPr>
          <a:xfrm>
            <a:off x="3514039" y="44805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todo://tasks/{task_id}: задача в JSON</a:t>
            </a:r>
            <a:endParaRPr lang="en-US" sz="1400" dirty="0"/>
          </a:p>
        </p:txBody>
      </p:sp>
      <p:sp>
        <p:nvSpPr>
          <p:cNvPr id="35" name="card"/>
          <p:cNvSpPr/>
          <p:nvPr/>
        </p:nvSpPr>
        <p:spPr>
          <a:xfrm>
            <a:off x="6205118" y="3886200"/>
            <a:ext cx="2651760" cy="1554480"/>
          </a:xfrm>
          <a:prstGeom prst="roundRect">
            <a:avLst>
              <a:gd name="adj" fmla="val 7059"/>
            </a:avLst>
          </a:prstGeom>
          <a:solidFill>
            <a:schemeClr val="accent4">
              <a:alpha val="10000"/>
            </a:schemeClr>
          </a:solidFill>
          <a:ln w="12700">
            <a:solidFill>
              <a:schemeClr val="accent4">
                <a:alpha val="45000"/>
              </a:schemeClr>
            </a:solidFill>
            <a:prstDash val="solid"/>
          </a:ln>
        </p:spPr>
      </p:sp>
      <p:sp>
        <p:nvSpPr>
          <p:cNvPr id="36" name="Text 30"/>
          <p:cNvSpPr txBox="1"/>
          <p:nvPr/>
        </p:nvSpPr>
        <p:spPr>
          <a:xfrm>
            <a:off x="6387998" y="40690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Prompts</a:t>
            </a:r>
            <a:endParaRPr lang="en-US" sz="1700" dirty="0"/>
          </a:p>
        </p:txBody>
      </p:sp>
      <p:sp>
        <p:nvSpPr>
          <p:cNvPr id="37" name="Text 31"/>
          <p:cNvSpPr txBox="1"/>
          <p:nvPr/>
        </p:nvSpPr>
        <p:spPr>
          <a:xfrm>
            <a:off x="6387998" y="44805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заготовка do_something — ваш сценарий</a:t>
            </a:r>
            <a:endParaRPr lang="en-US" sz="1400" dirty="0"/>
          </a:p>
        </p:txBody>
      </p:sp>
      <p:sp>
        <p:nvSpPr>
          <p:cNvPr id="38" name="card"/>
          <p:cNvSpPr/>
          <p:nvPr/>
        </p:nvSpPr>
        <p:spPr>
          <a:xfrm>
            <a:off x="9079078" y="3886200"/>
            <a:ext cx="2651760" cy="1554480"/>
          </a:xfrm>
          <a:prstGeom prst="roundRect">
            <a:avLst>
              <a:gd name="adj" fmla="val 7059"/>
            </a:avLst>
          </a:prstGeom>
          <a:solidFill>
            <a:schemeClr val="accent5">
              <a:alpha val="10000"/>
            </a:schemeClr>
          </a:solidFill>
          <a:ln w="12700">
            <a:solidFill>
              <a:schemeClr val="accent5">
                <a:alpha val="45000"/>
              </a:schemeClr>
            </a:solidFill>
            <a:prstDash val="solid"/>
          </a:ln>
        </p:spPr>
      </p:sp>
      <p:sp>
        <p:nvSpPr>
          <p:cNvPr id="39" name="Text 33"/>
          <p:cNvSpPr txBox="1"/>
          <p:nvPr/>
        </p:nvSpPr>
        <p:spPr>
          <a:xfrm>
            <a:off x="9261958" y="40690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Elicitation</a:t>
            </a:r>
            <a:endParaRPr lang="en-US" sz="1700" dirty="0"/>
          </a:p>
        </p:txBody>
      </p:sp>
      <p:sp>
        <p:nvSpPr>
          <p:cNvPr id="40" name="Text 34"/>
          <p:cNvSpPr txBox="1"/>
          <p:nvPr/>
        </p:nvSpPr>
        <p:spPr>
          <a:xfrm>
            <a:off x="9261958" y="44805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delete_task спрашивает подтверждение</a:t>
            </a:r>
            <a:endParaRPr lang="en-US" sz="1400" dirty="0"/>
          </a:p>
        </p:txBody>
      </p:sp>
      <p:sp>
        <p:nvSpPr>
          <p:cNvPr id="41" name="takeaway"/>
          <p:cNvSpPr/>
          <p:nvPr/>
        </p:nvSpPr>
        <p:spPr>
          <a:xfrm>
            <a:off x="457200" y="5760720"/>
            <a:ext cx="11274552" cy="658368"/>
          </a:xfrm>
          <a:prstGeom prst="roundRect">
            <a:avLst>
              <a:gd name="adj" fmla="val 16667"/>
            </a:avLst>
          </a:prstGeom>
          <a:solidFill>
            <a:schemeClr val="accent1">
              <a:alpha val="10000"/>
            </a:schemeClr>
          </a:solidFill>
          <a:ln w="12700">
            <a:solidFill>
              <a:schemeClr val="accent1">
                <a:alpha val="45000"/>
              </a:schemeClr>
            </a:solidFill>
            <a:prstDash val="solid"/>
          </a:ln>
        </p:spPr>
      </p:sp>
      <p:pic>
        <p:nvPicPr>
          <p:cNvPr id="42" name="icon target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5888736"/>
            <a:ext cx="402336" cy="402336"/>
          </a:xfrm>
          <a:prstGeom prst="rect">
            <a:avLst/>
          </a:prstGeom>
        </p:spPr>
      </p:pic>
      <p:sp>
        <p:nvSpPr>
          <p:cNvPr id="43" name="Text 36"/>
          <p:cNvSpPr txBox="1"/>
          <p:nvPr/>
        </p:nvSpPr>
        <p:spPr>
          <a:xfrm>
            <a:off x="1280160" y="5815584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UI обновляется сам раз в 2 секунды: правки агента сразу видны в браузере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922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Подготовка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896112"/>
            <a:ext cx="11274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Лучше сделать до занятия: настройка окружения занимает 20–40 минут</a:t>
            </a:r>
            <a:endParaRPr lang="en-US" sz="1600" dirty="0"/>
          </a:p>
        </p:txBody>
      </p:sp>
      <p:sp>
        <p:nvSpPr>
          <p:cNvPr id="4" name="card"/>
          <p:cNvSpPr/>
          <p:nvPr/>
        </p:nvSpPr>
        <p:spPr>
          <a:xfrm>
            <a:off x="457200" y="1600200"/>
            <a:ext cx="5394960" cy="841248"/>
          </a:xfrm>
          <a:prstGeom prst="roundRect">
            <a:avLst>
              <a:gd name="adj" fmla="val 13043"/>
            </a:avLst>
          </a:prstGeom>
          <a:solidFill>
            <a:schemeClr val="accent1">
              <a:alpha val="10000"/>
            </a:schemeClr>
          </a:solidFill>
          <a:ln w="12700">
            <a:solidFill>
              <a:schemeClr val="accent1">
                <a:alpha val="45000"/>
              </a:schemeClr>
            </a:solidFill>
            <a:prstDash val="solid"/>
          </a:ln>
        </p:spPr>
      </p:sp>
      <p:sp>
        <p:nvSpPr>
          <p:cNvPr id="5" name="number"/>
          <p:cNvSpPr/>
          <p:nvPr/>
        </p:nvSpPr>
        <p:spPr>
          <a:xfrm>
            <a:off x="658368" y="1737360"/>
            <a:ext cx="566928" cy="5669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417320" y="1709928"/>
            <a:ext cx="4251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Окружение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conda-окружение aidd-mcp и Qwen Code через npm</a:t>
            </a:r>
            <a:endParaRPr lang="en-US" sz="1500" dirty="0"/>
          </a:p>
        </p:txBody>
      </p:sp>
      <p:sp>
        <p:nvSpPr>
          <p:cNvPr id="7" name="card"/>
          <p:cNvSpPr/>
          <p:nvPr/>
        </p:nvSpPr>
        <p:spPr>
          <a:xfrm>
            <a:off x="457200" y="2587752"/>
            <a:ext cx="5394960" cy="841248"/>
          </a:xfrm>
          <a:prstGeom prst="roundRect">
            <a:avLst>
              <a:gd name="adj" fmla="val 13043"/>
            </a:avLst>
          </a:prstGeom>
          <a:solidFill>
            <a:schemeClr val="accent2">
              <a:alpha val="10000"/>
            </a:schemeClr>
          </a:solidFill>
          <a:ln w="12700">
            <a:solidFill>
              <a:schemeClr val="accent2">
                <a:alpha val="45000"/>
              </a:schemeClr>
            </a:solidFill>
            <a:prstDash val="solid"/>
          </a:ln>
        </p:spPr>
      </p:sp>
      <p:sp>
        <p:nvSpPr>
          <p:cNvPr id="8" name="number"/>
          <p:cNvSpPr/>
          <p:nvPr/>
        </p:nvSpPr>
        <p:spPr>
          <a:xfrm>
            <a:off x="658368" y="2724912"/>
            <a:ext cx="566928" cy="56692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417320" y="2697480"/>
            <a:ext cx="4251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Приложение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python -m todo.web в отдельном терминале, затем seed.py</a:t>
            </a:r>
            <a:endParaRPr lang="en-US" sz="1500" dirty="0"/>
          </a:p>
        </p:txBody>
      </p:sp>
      <p:sp>
        <p:nvSpPr>
          <p:cNvPr id="10" name="card"/>
          <p:cNvSpPr/>
          <p:nvPr/>
        </p:nvSpPr>
        <p:spPr>
          <a:xfrm>
            <a:off x="457200" y="3575304"/>
            <a:ext cx="5394960" cy="841248"/>
          </a:xfrm>
          <a:prstGeom prst="roundRect">
            <a:avLst>
              <a:gd name="adj" fmla="val 13043"/>
            </a:avLst>
          </a:prstGeom>
          <a:solidFill>
            <a:schemeClr val="accent4">
              <a:alpha val="10000"/>
            </a:schemeClr>
          </a:solidFill>
          <a:ln w="12700">
            <a:solidFill>
              <a:schemeClr val="accent4">
                <a:alpha val="45000"/>
              </a:schemeClr>
            </a:solidFill>
            <a:prstDash val="solid"/>
          </a:ln>
        </p:spPr>
      </p:sp>
      <p:sp>
        <p:nvSpPr>
          <p:cNvPr id="11" name="number"/>
          <p:cNvSpPr/>
          <p:nvPr/>
        </p:nvSpPr>
        <p:spPr>
          <a:xfrm>
            <a:off x="658368" y="3712464"/>
            <a:ext cx="566928" cy="56692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1417320" y="3685032"/>
            <a:ext cx="4251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Модель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имя, адрес API и ключ в practice/agent/.qwen/settings.json</a:t>
            </a:r>
            <a:endParaRPr lang="en-US" sz="1500" dirty="0"/>
          </a:p>
        </p:txBody>
      </p:sp>
      <p:sp>
        <p:nvSpPr>
          <p:cNvPr id="13" name="card"/>
          <p:cNvSpPr/>
          <p:nvPr/>
        </p:nvSpPr>
        <p:spPr>
          <a:xfrm>
            <a:off x="457200" y="4562856"/>
            <a:ext cx="5394960" cy="841248"/>
          </a:xfrm>
          <a:prstGeom prst="roundRect">
            <a:avLst>
              <a:gd name="adj" fmla="val 13043"/>
            </a:avLst>
          </a:prstGeom>
          <a:solidFill>
            <a:schemeClr val="accent3">
              <a:alpha val="10000"/>
            </a:schemeClr>
          </a:solidFill>
          <a:ln w="12700">
            <a:solidFill>
              <a:schemeClr val="accent3">
                <a:alpha val="45000"/>
              </a:schemeClr>
            </a:solidFill>
            <a:prstDash val="solid"/>
          </a:ln>
        </p:spPr>
      </p:sp>
      <p:sp>
        <p:nvSpPr>
          <p:cNvPr id="14" name="number"/>
          <p:cNvSpPr/>
          <p:nvPr/>
        </p:nvSpPr>
        <p:spPr>
          <a:xfrm>
            <a:off x="658368" y="4700016"/>
            <a:ext cx="566928" cy="56692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1417320" y="4672584"/>
            <a:ext cx="4251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Проверка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qwen запускается из practice/agent и отвечает</a:t>
            </a:r>
            <a:endParaRPr lang="en-US" sz="1500" dirty="0"/>
          </a:p>
        </p:txBody>
      </p:sp>
      <p:sp>
        <p:nvSpPr>
          <p:cNvPr id="16" name="code"/>
          <p:cNvSpPr txBox="1"/>
          <p:nvPr/>
        </p:nvSpPr>
        <p:spPr>
          <a:xfrm>
            <a:off x="6172200" y="1600200"/>
            <a:ext cx="5559552" cy="3803904"/>
          </a:xfrm>
          <a:prstGeom prst="roundRect">
            <a:avLst>
              <a:gd name="adj" fmla="val 2404"/>
            </a:avLst>
          </a:prstGeom>
          <a:solidFill>
            <a:srgbClr val="22375A"/>
          </a:solidFill>
          <a:ln w="12700">
            <a:solidFill>
              <a:srgbClr val="22375A"/>
            </a:solidFill>
          </a:ln>
        </p:spPr>
        <p:txBody>
          <a:bodyPr wrap="square" lIns="152400" tIns="177800" rIns="177800" bIns="15240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conda env create -f environment.yml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conda activate aidd-mcp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install -g @qwen-code/qwen-code</a:t>
            </a:r>
            <a:endParaRPr lang="en-US" sz="1400" dirty="0"/>
          </a:p>
          <a:p>
            <a:pPr algn="l" indent="0" marL="0">
              <a:buNone/>
            </a:pP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apps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-m todo.web      # терминал 1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seed.py 20       # терминал 2</a:t>
            </a:r>
            <a:endParaRPr lang="en-US" sz="1400" dirty="0"/>
          </a:p>
          <a:p>
            <a:pPr algn="l" indent="0" marL="0">
              <a:buNone/>
            </a:pP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practice/agent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MODEL_API_KEY=...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qwen</a:t>
            </a:r>
            <a:endParaRPr lang="en-US" sz="1400" dirty="0"/>
          </a:p>
        </p:txBody>
      </p:sp>
      <p:sp>
        <p:nvSpPr>
          <p:cNvPr id="17" name="takeaway"/>
          <p:cNvSpPr/>
          <p:nvPr/>
        </p:nvSpPr>
        <p:spPr>
          <a:xfrm>
            <a:off x="457200" y="5760720"/>
            <a:ext cx="11274552" cy="658368"/>
          </a:xfrm>
          <a:prstGeom prst="roundRect">
            <a:avLst>
              <a:gd name="adj" fmla="val 16667"/>
            </a:avLst>
          </a:prstGeom>
          <a:solidFill>
            <a:schemeClr val="accent2">
              <a:alpha val="10000"/>
            </a:schemeClr>
          </a:solidFill>
          <a:ln w="12700">
            <a:solidFill>
              <a:schemeClr val="accent2">
                <a:alpha val="45000"/>
              </a:schemeClr>
            </a:solidFill>
            <a:prstDash val="solid"/>
          </a:ln>
        </p:spPr>
      </p:sp>
      <p:pic>
        <p:nvPicPr>
          <p:cNvPr id="18" name="icon target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5888736"/>
            <a:ext cx="402336" cy="402336"/>
          </a:xfrm>
          <a:prstGeom prst="rect">
            <a:avLst/>
          </a:prstGeom>
        </p:spPr>
      </p:pic>
      <p:sp>
        <p:nvSpPr>
          <p:cNvPr id="19" name="Text 16"/>
          <p:cNvSpPr txBox="1"/>
          <p:nvPr/>
        </p:nvSpPr>
        <p:spPr>
          <a:xfrm>
            <a:off x="1280160" y="5815584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На macOS порт 5000 часто занят AirPlay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Запускайте приложение с --port 5001 и используйте этот порт везде, в том числе в TODO_API_URL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922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31520" y="182880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6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6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31520" y="301752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Tools</a:t>
            </a:r>
            <a:endParaRPr lang="en-US" sz="3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731520" y="402336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bg1"/>
                </a:solidFill>
              </a:rPr>
              <a:t>От агента без доступа к задачам до своего MCP-сервера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922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BD5E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1.1–1.3. Агент без MCP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896112"/>
            <a:ext cx="11274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Одни и те же просьбы: показать задачи, добавить новую, отметить существующую выполненной</a:t>
            </a:r>
            <a:endParaRPr lang="en-US" sz="1600" dirty="0"/>
          </a:p>
        </p:txBody>
      </p:sp>
      <p:sp>
        <p:nvSpPr>
          <p:cNvPr id="4" name="card"/>
          <p:cNvSpPr/>
          <p:nvPr/>
        </p:nvSpPr>
        <p:spPr>
          <a:xfrm>
            <a:off x="457200" y="1600200"/>
            <a:ext cx="3429000" cy="2880360"/>
          </a:xfrm>
          <a:prstGeom prst="roundRect">
            <a:avLst>
              <a:gd name="adj" fmla="val 3810"/>
            </a:avLst>
          </a:prstGeom>
          <a:solidFill>
            <a:schemeClr val="accent4">
              <a:alpha val="10000"/>
            </a:schemeClr>
          </a:solidFill>
          <a:ln w="12700">
            <a:solidFill>
              <a:schemeClr val="accent4">
                <a:alpha val="45000"/>
              </a:schemeClr>
            </a:solidFill>
            <a:prstDash val="solid"/>
          </a:ln>
        </p:spPr>
      </p:sp>
      <p:sp>
        <p:nvSpPr>
          <p:cNvPr id="5" name="icon circle"/>
          <p:cNvSpPr/>
          <p:nvPr/>
        </p:nvSpPr>
        <p:spPr>
          <a:xfrm>
            <a:off x="1842516" y="1828800"/>
            <a:ext cx="658368" cy="65836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6" name="icon LuCircleHelp" descr="LuCircleHelp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87357" y="1973641"/>
            <a:ext cx="368686" cy="36868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94360" y="260604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1.1. Без подсказок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3063240"/>
            <a:ext cx="3063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сервера todo в settings.json нет. Как агент выкручивается? Получается ли вообще?</a:t>
            </a:r>
            <a:endParaRPr lang="en-US" sz="1500" dirty="0"/>
          </a:p>
        </p:txBody>
      </p:sp>
      <p:sp>
        <p:nvSpPr>
          <p:cNvPr id="9" name="arrow"/>
          <p:cNvSpPr/>
          <p:nvPr/>
        </p:nvSpPr>
        <p:spPr>
          <a:xfrm>
            <a:off x="3941064" y="3040380"/>
            <a:ext cx="384048" cy="0"/>
          </a:xfrm>
          <a:prstGeom prst="line">
            <a:avLst/>
          </a:prstGeom>
          <a:noFill/>
          <a:ln w="22225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0" name="card"/>
          <p:cNvSpPr/>
          <p:nvPr/>
        </p:nvSpPr>
        <p:spPr>
          <a:xfrm>
            <a:off x="4379976" y="1600200"/>
            <a:ext cx="3429000" cy="2880360"/>
          </a:xfrm>
          <a:prstGeom prst="roundRect">
            <a:avLst>
              <a:gd name="adj" fmla="val 3810"/>
            </a:avLst>
          </a:prstGeom>
          <a:solidFill>
            <a:schemeClr val="accent2">
              <a:alpha val="10000"/>
            </a:schemeClr>
          </a:solidFill>
          <a:ln w="12700">
            <a:solidFill>
              <a:schemeClr val="accent2">
                <a:alpha val="45000"/>
              </a:schemeClr>
            </a:solidFill>
            <a:prstDash val="solid"/>
          </a:ln>
        </p:spPr>
      </p:sp>
      <p:sp>
        <p:nvSpPr>
          <p:cNvPr id="11" name="icon circle"/>
          <p:cNvSpPr/>
          <p:nvPr/>
        </p:nvSpPr>
        <p:spPr>
          <a:xfrm>
            <a:off x="5765292" y="1828800"/>
            <a:ext cx="658368" cy="65836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2" name="icon LuTerminal" descr="LuTerminal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0133" y="1973641"/>
            <a:ext cx="368686" cy="368686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517136" y="260604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1.2. Дали адрес</a:t>
            </a:r>
            <a:endParaRPr lang="en-US" sz="1700" dirty="0"/>
          </a:p>
        </p:txBody>
      </p:sp>
      <p:sp>
        <p:nvSpPr>
          <p:cNvPr id="14" name="Text 10"/>
          <p:cNvSpPr txBox="1"/>
          <p:nvPr/>
        </p:nvSpPr>
        <p:spPr>
          <a:xfrm>
            <a:off x="4562856" y="3063240"/>
            <a:ext cx="3063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приложение на 127.0.0.1:5000, таблица REST API. Как агент туда ходит и сколько шагов тратит?</a:t>
            </a:r>
            <a:endParaRPr lang="en-US" sz="1500" dirty="0"/>
          </a:p>
        </p:txBody>
      </p:sp>
      <p:sp>
        <p:nvSpPr>
          <p:cNvPr id="15" name="arrow"/>
          <p:cNvSpPr/>
          <p:nvPr/>
        </p:nvSpPr>
        <p:spPr>
          <a:xfrm>
            <a:off x="7863840" y="3040380"/>
            <a:ext cx="384048" cy="0"/>
          </a:xfrm>
          <a:prstGeom prst="line">
            <a:avLst/>
          </a:prstGeom>
          <a:noFill/>
          <a:ln w="22225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6" name="card"/>
          <p:cNvSpPr/>
          <p:nvPr/>
        </p:nvSpPr>
        <p:spPr>
          <a:xfrm>
            <a:off x="8302752" y="1600200"/>
            <a:ext cx="3429000" cy="2880360"/>
          </a:xfrm>
          <a:prstGeom prst="roundRect">
            <a:avLst>
              <a:gd name="adj" fmla="val 3810"/>
            </a:avLst>
          </a:prstGeom>
          <a:solidFill>
            <a:schemeClr val="accent5">
              <a:alpha val="10000"/>
            </a:schemeClr>
          </a:solidFill>
          <a:ln w="12700">
            <a:solidFill>
              <a:schemeClr val="accent5">
                <a:alpha val="45000"/>
              </a:schemeClr>
            </a:solidFill>
            <a:prstDash val="solid"/>
          </a:ln>
        </p:spPr>
      </p:sp>
      <p:sp>
        <p:nvSpPr>
          <p:cNvPr id="17" name="icon circle"/>
          <p:cNvSpPr/>
          <p:nvPr/>
        </p:nvSpPr>
        <p:spPr>
          <a:xfrm>
            <a:off x="9688068" y="1828800"/>
            <a:ext cx="658368" cy="65836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18" name="icon LuShieldX" descr="LuShieldX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32909" y="1973641"/>
            <a:ext cx="368686" cy="368686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8439912" y="260604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1.3. Hook запрещает сеть</a:t>
            </a:r>
            <a:endParaRPr lang="en-US" sz="1700" dirty="0"/>
          </a:p>
        </p:txBody>
      </p:sp>
      <p:sp>
        <p:nvSpPr>
          <p:cNvPr id="20" name="Text 15"/>
          <p:cNvSpPr txBox="1"/>
          <p:nvPr/>
        </p:nvSpPr>
        <p:spPr>
          <a:xfrm>
            <a:off x="8485632" y="3063240"/>
            <a:ext cx="3063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curl, wget, nc и чтение todo_db.json — deny. Что изменилось? Ищет ли агент обходной путь?</a:t>
            </a:r>
            <a:endParaRPr lang="en-US" sz="1500" dirty="0"/>
          </a:p>
        </p:txBody>
      </p:sp>
      <p:sp>
        <p:nvSpPr>
          <p:cNvPr id="21" name="Text 16"/>
          <p:cNvSpPr txBox="1"/>
          <p:nvPr/>
        </p:nvSpPr>
        <p:spPr>
          <a:xfrm>
            <a:off x="457200" y="4754880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tx2"/>
                </a:solidFill>
              </a:rPr>
              <a:t>У приложения нет аутентификации: любой процесс на вашей машине может менять задачи так же, как агент через curl</a:t>
            </a:r>
            <a:endParaRPr lang="en-US" sz="1600" dirty="0"/>
          </a:p>
        </p:txBody>
      </p:sp>
      <p:sp>
        <p:nvSpPr>
          <p:cNvPr id="22" name="takeaway"/>
          <p:cNvSpPr/>
          <p:nvPr/>
        </p:nvSpPr>
        <p:spPr>
          <a:xfrm>
            <a:off x="457200" y="5760720"/>
            <a:ext cx="11274552" cy="658368"/>
          </a:xfrm>
          <a:prstGeom prst="roundRect">
            <a:avLst>
              <a:gd name="adj" fmla="val 16667"/>
            </a:avLst>
          </a:prstGeom>
          <a:solidFill>
            <a:schemeClr val="accent5">
              <a:alpha val="10000"/>
            </a:schemeClr>
          </a:solidFill>
          <a:ln w="12700">
            <a:solidFill>
              <a:schemeClr val="accent5">
                <a:alpha val="45000"/>
              </a:schemeClr>
            </a:solidFill>
            <a:prstDash val="solid"/>
          </a:ln>
        </p:spPr>
      </p:sp>
      <p:pic>
        <p:nvPicPr>
          <p:cNvPr id="23" name="icon target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5888736"/>
            <a:ext cx="402336" cy="402336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1280160" y="5815584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Hook запускает сам Qwen перед каждым вызовом tool, в любом режиме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Это гарантия, а не просьба к модели. Почему список запретов всё же можно обойти — часть 4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922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1.3. Hook: запрет сети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896112"/>
            <a:ext cx="11274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Создайте .qwen/hooks/guard.py и подключите его в settings.json</a:t>
            </a:r>
            <a:endParaRPr lang="en-US" sz="1600" dirty="0"/>
          </a:p>
        </p:txBody>
      </p:sp>
      <p:sp>
        <p:nvSpPr>
          <p:cNvPr id="4" name="code"/>
          <p:cNvSpPr txBox="1"/>
          <p:nvPr/>
        </p:nvSpPr>
        <p:spPr>
          <a:xfrm>
            <a:off x="457200" y="1600200"/>
            <a:ext cx="5715000" cy="4526280"/>
          </a:xfrm>
          <a:prstGeom prst="roundRect">
            <a:avLst>
              <a:gd name="adj" fmla="val 2020"/>
            </a:avLst>
          </a:prstGeom>
          <a:solidFill>
            <a:srgbClr val="22375A"/>
          </a:solidFill>
          <a:ln w="12700">
            <a:solidFill>
              <a:srgbClr val="22375A"/>
            </a:solidFill>
          </a:ln>
        </p:spPr>
        <p:txBody>
          <a:bodyPr wrap="square" lIns="152400" tIns="177800" rIns="177800" bIns="15240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.qwen/hooks/guard.py (полная версия в README)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 = json.load(sys.stdin)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tool = data.get("tool_name", "")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args = data.get("tool_input", {})</a:t>
            </a:r>
            <a:endParaRPr lang="en-US" sz="1150" dirty="0"/>
          </a:p>
          <a:p>
            <a:pPr algn="l" indent="0" marL="0">
              <a:buNone/>
            </a:pP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decide(decision, reason):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print(json.dumps({"hookSpecificOutput": {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"hookEventName": "PreToolUse",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"permissionDecision": decision,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"permissionDecisionReason": reason}}))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sys.exit(0)</a:t>
            </a:r>
            <a:endParaRPr lang="en-US" sz="1150" dirty="0"/>
          </a:p>
          <a:p>
            <a:pPr algn="l" indent="0" marL="0">
              <a:buNone/>
            </a:pP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tool == "run_shell_command" and re.search(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r"\b(curl|wget|nc|ncat)\b", args["command"]):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decide("deny", "Сетевые команды запрещены")</a:t>
            </a:r>
            <a:endParaRPr lang="en-US" sz="1150" dirty="0"/>
          </a:p>
          <a:p>
            <a:pPr algn="l" indent="0" marL="0">
              <a:buNone/>
            </a:pP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tool in ("mcp__todo__complete_task",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"mcp__todo__delete_task"):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decide("ask", f"Изменение задач: {tool}")</a:t>
            </a:r>
            <a:endParaRPr lang="en-US" sz="1150" dirty="0"/>
          </a:p>
          <a:p>
            <a:pPr algn="l" indent="0" marL="0">
              <a:buNone/>
            </a:pP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decide("allow", "ok")</a:t>
            </a:r>
            <a:endParaRPr lang="en-US" sz="1150" dirty="0"/>
          </a:p>
        </p:txBody>
      </p:sp>
      <p:sp>
        <p:nvSpPr>
          <p:cNvPr id="5" name="code"/>
          <p:cNvSpPr txBox="1"/>
          <p:nvPr/>
        </p:nvSpPr>
        <p:spPr>
          <a:xfrm>
            <a:off x="6400800" y="1600200"/>
            <a:ext cx="5330952" cy="2331720"/>
          </a:xfrm>
          <a:prstGeom prst="roundRect">
            <a:avLst>
              <a:gd name="adj" fmla="val 3922"/>
            </a:avLst>
          </a:prstGeom>
          <a:solidFill>
            <a:srgbClr val="22375A"/>
          </a:solidFill>
          <a:ln w="12700">
            <a:solidFill>
              <a:srgbClr val="22375A"/>
            </a:solidFill>
          </a:ln>
        </p:spPr>
        <p:txBody>
          <a:bodyPr wrap="square" lIns="152400" tIns="177800" rIns="177800" bIns="15240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"hooks": {"PreToolUse": [{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"matcher":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"^(run_shell_command|mcp__todo__.*)$",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"hooks": [{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"type": "command",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"command": "python \"$QWEN_PROJECT_DIR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/.qwen/hooks/guard.py\""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}]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}]}</a:t>
            </a:r>
            <a:endParaRPr lang="en-US" sz="1200" dirty="0"/>
          </a:p>
        </p:txBody>
      </p:sp>
      <p:sp>
        <p:nvSpPr>
          <p:cNvPr id="6" name="card"/>
          <p:cNvSpPr/>
          <p:nvPr/>
        </p:nvSpPr>
        <p:spPr>
          <a:xfrm>
            <a:off x="6400800" y="4114800"/>
            <a:ext cx="5330952" cy="621792"/>
          </a:xfrm>
          <a:prstGeom prst="roundRect">
            <a:avLst>
              <a:gd name="adj" fmla="val 17647"/>
            </a:avLst>
          </a:prstGeom>
          <a:solidFill>
            <a:schemeClr val="accent1">
              <a:alpha val="10000"/>
            </a:schemeClr>
          </a:solidFill>
          <a:ln w="12700">
            <a:solidFill>
              <a:schemeClr val="accent1">
                <a:alpha val="45000"/>
              </a:schemeClr>
            </a:solidFill>
            <a:prstDash val="solid"/>
          </a:ln>
        </p:spPr>
      </p:sp>
      <p:sp>
        <p:nvSpPr>
          <p:cNvPr id="7" name="number"/>
          <p:cNvSpPr/>
          <p:nvPr/>
        </p:nvSpPr>
        <p:spPr>
          <a:xfrm>
            <a:off x="6601968" y="4142232"/>
            <a:ext cx="566928" cy="5669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7360920" y="4224528"/>
            <a:ext cx="41879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Подключите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блок hooks в settings.json, затем /hooks</a:t>
            </a:r>
            <a:endParaRPr lang="en-US" sz="1500" dirty="0"/>
          </a:p>
        </p:txBody>
      </p:sp>
      <p:sp>
        <p:nvSpPr>
          <p:cNvPr id="9" name="card"/>
          <p:cNvSpPr/>
          <p:nvPr/>
        </p:nvSpPr>
        <p:spPr>
          <a:xfrm>
            <a:off x="6400800" y="4809744"/>
            <a:ext cx="5330952" cy="621792"/>
          </a:xfrm>
          <a:prstGeom prst="roundRect">
            <a:avLst>
              <a:gd name="adj" fmla="val 17647"/>
            </a:avLst>
          </a:prstGeom>
          <a:solidFill>
            <a:schemeClr val="accent3">
              <a:alpha val="10000"/>
            </a:schemeClr>
          </a:solidFill>
          <a:ln w="12700">
            <a:solidFill>
              <a:schemeClr val="accent3">
                <a:alpha val="45000"/>
              </a:schemeClr>
            </a:solidFill>
            <a:prstDash val="solid"/>
          </a:ln>
        </p:spPr>
      </p:sp>
      <p:sp>
        <p:nvSpPr>
          <p:cNvPr id="10" name="number"/>
          <p:cNvSpPr/>
          <p:nvPr/>
        </p:nvSpPr>
        <p:spPr>
          <a:xfrm>
            <a:off x="6601968" y="4837176"/>
            <a:ext cx="566928" cy="56692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7360920" y="4919472"/>
            <a:ext cx="41879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Повторите просьбы из 1.2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curl и его друзья получают deny с причиной</a:t>
            </a:r>
            <a:endParaRPr lang="en-US" sz="1500" dirty="0"/>
          </a:p>
        </p:txBody>
      </p:sp>
      <p:sp>
        <p:nvSpPr>
          <p:cNvPr id="12" name="card"/>
          <p:cNvSpPr/>
          <p:nvPr/>
        </p:nvSpPr>
        <p:spPr>
          <a:xfrm>
            <a:off x="6400800" y="5504688"/>
            <a:ext cx="5330952" cy="621792"/>
          </a:xfrm>
          <a:prstGeom prst="roundRect">
            <a:avLst>
              <a:gd name="adj" fmla="val 17647"/>
            </a:avLst>
          </a:prstGeom>
          <a:solidFill>
            <a:schemeClr val="accent4">
              <a:alpha val="10000"/>
            </a:schemeClr>
          </a:solidFill>
          <a:ln w="12700">
            <a:solidFill>
              <a:schemeClr val="accent4">
                <a:alpha val="45000"/>
              </a:schemeClr>
            </a:solidFill>
            <a:prstDash val="solid"/>
          </a:ln>
        </p:spPr>
      </p:sp>
      <p:sp>
        <p:nvSpPr>
          <p:cNvPr id="13" name="number"/>
          <p:cNvSpPr/>
          <p:nvPr/>
        </p:nvSpPr>
        <p:spPr>
          <a:xfrm>
            <a:off x="6601968" y="5532120"/>
            <a:ext cx="566928" cy="56692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7360920" y="5614416"/>
            <a:ext cx="41879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mcp__todo__…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пока не срабатывает: пригодится в 1.7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922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1.4–1.6. Допишите и проверьте tools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896112"/>
            <a:ext cx="11274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list_tasks и complete_task уже объявлены, но внутри raise NotImplementedError</a:t>
            </a:r>
            <a:endParaRPr lang="en-US" sz="1600" dirty="0"/>
          </a:p>
        </p:txBody>
      </p:sp>
      <p:sp>
        <p:nvSpPr>
          <p:cNvPr id="4" name="card"/>
          <p:cNvSpPr/>
          <p:nvPr/>
        </p:nvSpPr>
        <p:spPr>
          <a:xfrm>
            <a:off x="457200" y="1600200"/>
            <a:ext cx="5394960" cy="1188720"/>
          </a:xfrm>
          <a:prstGeom prst="roundRect">
            <a:avLst>
              <a:gd name="adj" fmla="val 9231"/>
            </a:avLst>
          </a:prstGeom>
          <a:solidFill>
            <a:schemeClr val="accent1">
              <a:alpha val="10000"/>
            </a:schemeClr>
          </a:solidFill>
          <a:ln w="12700">
            <a:solidFill>
              <a:schemeClr val="accent1">
                <a:alpha val="45000"/>
              </a:schemeClr>
            </a:solidFill>
            <a:prstDash val="solid"/>
          </a:ln>
        </p:spPr>
      </p:sp>
      <p:sp>
        <p:nvSpPr>
          <p:cNvPr id="5" name="number"/>
          <p:cNvSpPr/>
          <p:nvPr/>
        </p:nvSpPr>
        <p:spPr>
          <a:xfrm>
            <a:off x="658368" y="1911096"/>
            <a:ext cx="566928" cy="5669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1.4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417320" y="1709928"/>
            <a:ext cx="425196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Реализуйте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через помощники _get и _post; done в API передаётся строкой true / false</a:t>
            </a:r>
            <a:endParaRPr lang="en-US" sz="1500" dirty="0"/>
          </a:p>
        </p:txBody>
      </p:sp>
      <p:sp>
        <p:nvSpPr>
          <p:cNvPr id="7" name="card"/>
          <p:cNvSpPr/>
          <p:nvPr/>
        </p:nvSpPr>
        <p:spPr>
          <a:xfrm>
            <a:off x="457200" y="2926080"/>
            <a:ext cx="5394960" cy="1188720"/>
          </a:xfrm>
          <a:prstGeom prst="roundRect">
            <a:avLst>
              <a:gd name="adj" fmla="val 9231"/>
            </a:avLst>
          </a:prstGeom>
          <a:solidFill>
            <a:schemeClr val="accent3">
              <a:alpha val="10000"/>
            </a:schemeClr>
          </a:solidFill>
          <a:ln w="12700">
            <a:solidFill>
              <a:schemeClr val="accent3">
                <a:alpha val="45000"/>
              </a:schemeClr>
            </a:solidFill>
            <a:prstDash val="solid"/>
          </a:ln>
        </p:spPr>
      </p:sp>
      <p:sp>
        <p:nvSpPr>
          <p:cNvPr id="8" name="number"/>
          <p:cNvSpPr/>
          <p:nvPr/>
        </p:nvSpPr>
        <p:spPr>
          <a:xfrm>
            <a:off x="658368" y="3236976"/>
            <a:ext cx="566928" cy="56692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1.5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417320" y="3035808"/>
            <a:ext cx="425196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Проверьте в Inspector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add_task, list_tasks с фильтром и без, complete_task. Ошибки: пустое название, чужой id. Сверяйтесь с UI</a:t>
            </a:r>
            <a:endParaRPr lang="en-US" sz="1500" dirty="0"/>
          </a:p>
        </p:txBody>
      </p:sp>
      <p:sp>
        <p:nvSpPr>
          <p:cNvPr id="10" name="card"/>
          <p:cNvSpPr/>
          <p:nvPr/>
        </p:nvSpPr>
        <p:spPr>
          <a:xfrm>
            <a:off x="457200" y="4251960"/>
            <a:ext cx="5394960" cy="1188720"/>
          </a:xfrm>
          <a:prstGeom prst="roundRect">
            <a:avLst>
              <a:gd name="adj" fmla="val 9231"/>
            </a:avLst>
          </a:prstGeom>
          <a:solidFill>
            <a:schemeClr val="accent5">
              <a:alpha val="10000"/>
            </a:schemeClr>
          </a:solidFill>
          <a:ln w="12700">
            <a:solidFill>
              <a:schemeClr val="accent5">
                <a:alpha val="45000"/>
              </a:schemeClr>
            </a:solidFill>
            <a:prstDash val="solid"/>
          </a:ln>
        </p:spPr>
      </p:sp>
      <p:sp>
        <p:nvSpPr>
          <p:cNvPr id="11" name="number"/>
          <p:cNvSpPr/>
          <p:nvPr/>
        </p:nvSpPr>
        <p:spPr>
          <a:xfrm>
            <a:off x="658368" y="4562856"/>
            <a:ext cx="566928" cy="56692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1.6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417320" y="4361688"/>
            <a:ext cx="425196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Посмотрите Elicitation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delete_task: Accept, Decline, Cancel. Что стало с задачей? Где сервер задаёт вопрос?</a:t>
            </a:r>
            <a:endParaRPr lang="en-US" sz="1500" dirty="0"/>
          </a:p>
        </p:txBody>
      </p:sp>
      <p:sp>
        <p:nvSpPr>
          <p:cNvPr id="13" name="code"/>
          <p:cNvSpPr txBox="1"/>
          <p:nvPr/>
        </p:nvSpPr>
        <p:spPr>
          <a:xfrm>
            <a:off x="6172200" y="1600200"/>
            <a:ext cx="5559552" cy="2606040"/>
          </a:xfrm>
          <a:prstGeom prst="roundRect">
            <a:avLst>
              <a:gd name="adj" fmla="val 3509"/>
            </a:avLst>
          </a:prstGeom>
          <a:solidFill>
            <a:srgbClr val="22375A"/>
          </a:solidFill>
          <a:ln w="12700">
            <a:solidFill>
              <a:srgbClr val="22375A"/>
            </a:solidFill>
          </a:ln>
        </p:spPr>
        <p:txBody>
          <a:bodyPr wrap="square" lIns="152400" tIns="177800" rIns="177800" bIns="15240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@mcp.tool()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list_tasks(done: Optional[bool] = None) -&gt; list: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"""Возвращает полный список задач. ..."""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TODO: GET /api/tasks[?done=true|false]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raise NotImplementedError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@mcp.tool()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complete_task(task_id: int) -&gt; dict: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TODO: POST /api/tasks/{task_id}/complete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raise NotImplementedError</a:t>
            </a:r>
            <a:endParaRPr lang="en-US" sz="1200" dirty="0"/>
          </a:p>
        </p:txBody>
      </p:sp>
      <p:sp>
        <p:nvSpPr>
          <p:cNvPr id="14" name="code"/>
          <p:cNvSpPr txBox="1"/>
          <p:nvPr/>
        </p:nvSpPr>
        <p:spPr>
          <a:xfrm>
            <a:off x="6172200" y="4343400"/>
            <a:ext cx="5559552" cy="1097280"/>
          </a:xfrm>
          <a:prstGeom prst="roundRect">
            <a:avLst>
              <a:gd name="adj" fmla="val 8333"/>
            </a:avLst>
          </a:prstGeom>
          <a:solidFill>
            <a:srgbClr val="22375A"/>
          </a:solidFill>
          <a:ln w="12700">
            <a:solidFill>
              <a:srgbClr val="22375A"/>
            </a:solidFill>
          </a:ln>
        </p:spPr>
        <p:txBody>
          <a:bodyPr wrap="square" lIns="152400" tIns="177800" rIns="177800" bIns="15240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npx @modelcontextprotocol/inspector \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"$(which python)" \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"$PWD/practice/mcp/server.py"</a:t>
            </a:r>
            <a:endParaRPr lang="en-US" sz="1300" dirty="0"/>
          </a:p>
        </p:txBody>
      </p:sp>
      <p:sp>
        <p:nvSpPr>
          <p:cNvPr id="15" name="takeaway"/>
          <p:cNvSpPr/>
          <p:nvPr/>
        </p:nvSpPr>
        <p:spPr>
          <a:xfrm>
            <a:off x="457200" y="5760720"/>
            <a:ext cx="11274552" cy="658368"/>
          </a:xfrm>
          <a:prstGeom prst="roundRect">
            <a:avLst>
              <a:gd name="adj" fmla="val 16667"/>
            </a:avLst>
          </a:prstGeom>
          <a:solidFill>
            <a:schemeClr val="accent1">
              <a:alpha val="10000"/>
            </a:schemeClr>
          </a:solidFill>
          <a:ln w="12700">
            <a:solidFill>
              <a:schemeClr val="accent1">
                <a:alpha val="45000"/>
              </a:schemeClr>
            </a:solidFill>
            <a:prstDash val="solid"/>
          </a:ln>
        </p:spPr>
      </p:sp>
      <p:pic>
        <p:nvPicPr>
          <p:cNvPr id="16" name="icon target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5888736"/>
            <a:ext cx="402336" cy="402336"/>
          </a:xfrm>
          <a:prstGeom prst="rect">
            <a:avLst/>
          </a:prstGeom>
        </p:spPr>
      </p:pic>
      <p:sp>
        <p:nvSpPr>
          <p:cNvPr id="17" name="Text 14"/>
          <p:cNvSpPr txBox="1"/>
          <p:nvPr/>
        </p:nvSpPr>
        <p:spPr>
          <a:xfrm>
            <a:off x="1280160" y="5815584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Пути для Inspector только абсолютные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Иначе ошибка spawn ... ENOENT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922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1.7. Дайте агенту MCP-сервер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896112"/>
            <a:ext cx="11274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Сеть закрыта hook'ом, но с задачами агент работает через tools</a:t>
            </a:r>
            <a:endParaRPr lang="en-US" sz="1600" dirty="0"/>
          </a:p>
        </p:txBody>
      </p:sp>
      <p:sp>
        <p:nvSpPr>
          <p:cNvPr id="4" name="card"/>
          <p:cNvSpPr/>
          <p:nvPr/>
        </p:nvSpPr>
        <p:spPr>
          <a:xfrm>
            <a:off x="457200" y="1600200"/>
            <a:ext cx="5394960" cy="1188720"/>
          </a:xfrm>
          <a:prstGeom prst="roundRect">
            <a:avLst>
              <a:gd name="adj" fmla="val 9231"/>
            </a:avLst>
          </a:prstGeom>
          <a:solidFill>
            <a:schemeClr val="accent1">
              <a:alpha val="10000"/>
            </a:schemeClr>
          </a:solidFill>
          <a:ln w="12700">
            <a:solidFill>
              <a:schemeClr val="accent1">
                <a:alpha val="45000"/>
              </a:schemeClr>
            </a:solidFill>
            <a:prstDash val="solid"/>
          </a:ln>
        </p:spPr>
      </p:sp>
      <p:sp>
        <p:nvSpPr>
          <p:cNvPr id="5" name="icon circle"/>
          <p:cNvSpPr/>
          <p:nvPr/>
        </p:nvSpPr>
        <p:spPr>
          <a:xfrm>
            <a:off x="658368" y="1911096"/>
            <a:ext cx="566928" cy="5669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icon LuPlug" descr="LuPlu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3092" y="2035820"/>
            <a:ext cx="317480" cy="31748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17320" y="1691640"/>
            <a:ext cx="4251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Подключите todo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добавьте сервер в settings.json, перезапустите qwen, /mcp покажет todo и его tools</a:t>
            </a:r>
            <a:endParaRPr lang="en-US" sz="1500" dirty="0"/>
          </a:p>
        </p:txBody>
      </p:sp>
      <p:sp>
        <p:nvSpPr>
          <p:cNvPr id="8" name="card"/>
          <p:cNvSpPr/>
          <p:nvPr/>
        </p:nvSpPr>
        <p:spPr>
          <a:xfrm>
            <a:off x="457200" y="2926080"/>
            <a:ext cx="5394960" cy="1188720"/>
          </a:xfrm>
          <a:prstGeom prst="roundRect">
            <a:avLst>
              <a:gd name="adj" fmla="val 9231"/>
            </a:avLst>
          </a:prstGeom>
          <a:solidFill>
            <a:schemeClr val="accent3">
              <a:alpha val="10000"/>
            </a:schemeClr>
          </a:solidFill>
          <a:ln w="12700">
            <a:solidFill>
              <a:schemeClr val="accent3">
                <a:alpha val="45000"/>
              </a:schemeClr>
            </a:solidFill>
            <a:prstDash val="solid"/>
          </a:ln>
        </p:spPr>
      </p:sp>
      <p:sp>
        <p:nvSpPr>
          <p:cNvPr id="9" name="icon circle"/>
          <p:cNvSpPr/>
          <p:nvPr/>
        </p:nvSpPr>
        <p:spPr>
          <a:xfrm>
            <a:off x="658368" y="3236976"/>
            <a:ext cx="566928" cy="56692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0" name="icon LuRepeat" descr="LuRepea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3092" y="3361700"/>
            <a:ext cx="317480" cy="31748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417320" y="3017520"/>
            <a:ext cx="4251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Повторите просьбы из 1.1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справляется ли агент теперь? Сколько шагов по сравнению с 1.2?</a:t>
            </a:r>
            <a:endParaRPr lang="en-US" sz="1500" dirty="0"/>
          </a:p>
        </p:txBody>
      </p:sp>
      <p:sp>
        <p:nvSpPr>
          <p:cNvPr id="12" name="card"/>
          <p:cNvSpPr/>
          <p:nvPr/>
        </p:nvSpPr>
        <p:spPr>
          <a:xfrm>
            <a:off x="457200" y="4251960"/>
            <a:ext cx="5394960" cy="1188720"/>
          </a:xfrm>
          <a:prstGeom prst="roundRect">
            <a:avLst>
              <a:gd name="adj" fmla="val 9231"/>
            </a:avLst>
          </a:prstGeom>
          <a:solidFill>
            <a:schemeClr val="accent4">
              <a:alpha val="10000"/>
            </a:schemeClr>
          </a:solidFill>
          <a:ln w="12700">
            <a:solidFill>
              <a:schemeClr val="accent4">
                <a:alpha val="45000"/>
              </a:schemeClr>
            </a:solidFill>
            <a:prstDash val="solid"/>
          </a:ln>
        </p:spPr>
      </p:sp>
      <p:sp>
        <p:nvSpPr>
          <p:cNvPr id="13" name="icon circle"/>
          <p:cNvSpPr/>
          <p:nvPr/>
        </p:nvSpPr>
        <p:spPr>
          <a:xfrm>
            <a:off x="658368" y="4562856"/>
            <a:ext cx="566928" cy="56692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14" name="icon LuShieldCheck" descr="LuShieldCheck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3092" y="4687580"/>
            <a:ext cx="317480" cy="31748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417320" y="4343400"/>
            <a:ext cx="4251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Hook из 1.3 в деле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complete_task и delete_task требуют подтверждения в любом режиме, даже yolo</a:t>
            </a:r>
            <a:endParaRPr lang="en-US" sz="1500" dirty="0"/>
          </a:p>
        </p:txBody>
      </p:sp>
      <p:sp>
        <p:nvSpPr>
          <p:cNvPr id="16" name="code"/>
          <p:cNvSpPr txBox="1"/>
          <p:nvPr/>
        </p:nvSpPr>
        <p:spPr>
          <a:xfrm>
            <a:off x="6172200" y="1600200"/>
            <a:ext cx="5559552" cy="3840480"/>
          </a:xfrm>
          <a:prstGeom prst="roundRect">
            <a:avLst>
              <a:gd name="adj" fmla="val 2381"/>
            </a:avLst>
          </a:prstGeom>
          <a:solidFill>
            <a:srgbClr val="22375A"/>
          </a:solidFill>
          <a:ln w="12700">
            <a:solidFill>
              <a:srgbClr val="22375A"/>
            </a:solidFill>
          </a:ln>
        </p:spPr>
        <p:txBody>
          <a:bodyPr wrap="square" lIns="152400" tIns="177800" rIns="177800" bIns="15240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"mcpServers": {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"todo": {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"command": "/path/to/python",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"args": ["/path/to/mcp/server.py"],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"env": {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"TODO_API_URL": "http://127.0.0.1:5000",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"TODO_DELETE_WITHOUT_ELICITATION": "1"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</p:txBody>
      </p:sp>
      <p:sp>
        <p:nvSpPr>
          <p:cNvPr id="17" name="takeaway"/>
          <p:cNvSpPr/>
          <p:nvPr/>
        </p:nvSpPr>
        <p:spPr>
          <a:xfrm>
            <a:off x="457200" y="5760720"/>
            <a:ext cx="11274552" cy="658368"/>
          </a:xfrm>
          <a:prstGeom prst="roundRect">
            <a:avLst>
              <a:gd name="adj" fmla="val 16667"/>
            </a:avLst>
          </a:prstGeom>
          <a:solidFill>
            <a:schemeClr val="accent5">
              <a:alpha val="10000"/>
            </a:schemeClr>
          </a:solidFill>
          <a:ln w="12700">
            <a:solidFill>
              <a:schemeClr val="accent5">
                <a:alpha val="45000"/>
              </a:schemeClr>
            </a:solidFill>
            <a:prstDash val="solid"/>
          </a:ln>
        </p:spPr>
      </p:sp>
      <p:pic>
        <p:nvPicPr>
          <p:cNvPr id="18" name="icon target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5888736"/>
            <a:ext cx="402336" cy="402336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1280160" y="5815584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Qwen 0.26 не поддерживает Elicitation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Поэтому TODO_DELETE_WITHOUT_ELICITATION=1: подтверждение удаления даёт сам Qwen. --trust не используйте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922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1.8–1.10. Tool — интерфейс для модели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896112"/>
            <a:ext cx="11274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Что происходит, когда задач не 20, а 300</a:t>
            </a:r>
            <a:endParaRPr lang="en-US" sz="1600" dirty="0"/>
          </a:p>
        </p:txBody>
      </p:sp>
      <p:sp>
        <p:nvSpPr>
          <p:cNvPr id="4" name="card"/>
          <p:cNvSpPr/>
          <p:nvPr/>
        </p:nvSpPr>
        <p:spPr>
          <a:xfrm>
            <a:off x="457200" y="1600200"/>
            <a:ext cx="2423160" cy="2926080"/>
          </a:xfrm>
          <a:prstGeom prst="roundRect">
            <a:avLst>
              <a:gd name="adj" fmla="val 4528"/>
            </a:avLst>
          </a:prstGeom>
          <a:solidFill>
            <a:schemeClr val="accent2">
              <a:alpha val="10000"/>
            </a:schemeClr>
          </a:solidFill>
          <a:ln w="12700">
            <a:solidFill>
              <a:schemeClr val="accent2">
                <a:alpha val="45000"/>
              </a:schemeClr>
            </a:solidFill>
            <a:prstDash val="solid"/>
          </a:ln>
        </p:spPr>
      </p:sp>
      <p:sp>
        <p:nvSpPr>
          <p:cNvPr id="5" name="icon circle"/>
          <p:cNvSpPr/>
          <p:nvPr/>
        </p:nvSpPr>
        <p:spPr>
          <a:xfrm>
            <a:off x="1339596" y="1828800"/>
            <a:ext cx="658368" cy="65836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6" name="icon LuGauge" descr="LuGaug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84437" y="1973641"/>
            <a:ext cx="368686" cy="36868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94360" y="260604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Замерьте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3063240"/>
            <a:ext cx="20574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seed.py 300 --seed 1, вопросы с проверяемым ответом. Точность, вызовы, токены: /stats, /context</a:t>
            </a:r>
            <a:endParaRPr lang="en-US" sz="1400" dirty="0"/>
          </a:p>
        </p:txBody>
      </p:sp>
      <p:sp>
        <p:nvSpPr>
          <p:cNvPr id="9" name="arrow"/>
          <p:cNvSpPr/>
          <p:nvPr/>
        </p:nvSpPr>
        <p:spPr>
          <a:xfrm>
            <a:off x="2916936" y="3063240"/>
            <a:ext cx="292608" cy="0"/>
          </a:xfrm>
          <a:prstGeom prst="line">
            <a:avLst/>
          </a:prstGeom>
          <a:noFill/>
          <a:ln w="22225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0" name="card"/>
          <p:cNvSpPr/>
          <p:nvPr/>
        </p:nvSpPr>
        <p:spPr>
          <a:xfrm>
            <a:off x="3246120" y="1600200"/>
            <a:ext cx="2423160" cy="2926080"/>
          </a:xfrm>
          <a:prstGeom prst="roundRect">
            <a:avLst>
              <a:gd name="adj" fmla="val 4528"/>
            </a:avLst>
          </a:prstGeom>
          <a:solidFill>
            <a:schemeClr val="accent1">
              <a:alpha val="10000"/>
            </a:schemeClr>
          </a:solidFill>
          <a:ln w="12700">
            <a:solidFill>
              <a:schemeClr val="accent1">
                <a:alpha val="45000"/>
              </a:schemeClr>
            </a:solidFill>
            <a:prstDash val="solid"/>
          </a:ln>
        </p:spPr>
      </p:sp>
      <p:sp>
        <p:nvSpPr>
          <p:cNvPr id="11" name="icon circle"/>
          <p:cNvSpPr/>
          <p:nvPr/>
        </p:nvSpPr>
        <p:spPr>
          <a:xfrm>
            <a:off x="4128516" y="1828800"/>
            <a:ext cx="658368" cy="65836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2" name="icon LuWrench" descr="LuWrench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73357" y="1973641"/>
            <a:ext cx="368686" cy="368686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3383280" y="260604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Переделайте</a:t>
            </a:r>
            <a:endParaRPr lang="en-US" sz="1700" dirty="0"/>
          </a:p>
        </p:txBody>
      </p:sp>
      <p:sp>
        <p:nvSpPr>
          <p:cNvPr id="14" name="Text 10"/>
          <p:cNvSpPr txBox="1"/>
          <p:nvPr/>
        </p:nvSpPr>
        <p:spPr>
          <a:xfrm>
            <a:off x="3429000" y="3063240"/>
            <a:ext cx="20574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list_tasks: overdue, priority, query, due_before, limit, компактный ответ. Обновите docstring</a:t>
            </a:r>
            <a:endParaRPr lang="en-US" sz="1400" dirty="0"/>
          </a:p>
        </p:txBody>
      </p:sp>
      <p:sp>
        <p:nvSpPr>
          <p:cNvPr id="15" name="arrow"/>
          <p:cNvSpPr/>
          <p:nvPr/>
        </p:nvSpPr>
        <p:spPr>
          <a:xfrm>
            <a:off x="5705856" y="3063240"/>
            <a:ext cx="292608" cy="0"/>
          </a:xfrm>
          <a:prstGeom prst="line">
            <a:avLst/>
          </a:prstGeom>
          <a:noFill/>
          <a:ln w="22225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6" name="card"/>
          <p:cNvSpPr/>
          <p:nvPr/>
        </p:nvSpPr>
        <p:spPr>
          <a:xfrm>
            <a:off x="6035040" y="1600200"/>
            <a:ext cx="2423160" cy="2926080"/>
          </a:xfrm>
          <a:prstGeom prst="roundRect">
            <a:avLst>
              <a:gd name="adj" fmla="val 4528"/>
            </a:avLst>
          </a:prstGeom>
          <a:solidFill>
            <a:schemeClr val="accent3">
              <a:alpha val="10000"/>
            </a:schemeClr>
          </a:solidFill>
          <a:ln w="12700">
            <a:solidFill>
              <a:schemeClr val="accent3">
                <a:alpha val="45000"/>
              </a:schemeClr>
            </a:solidFill>
            <a:prstDash val="solid"/>
          </a:ln>
        </p:spPr>
      </p:sp>
      <p:sp>
        <p:nvSpPr>
          <p:cNvPr id="17" name="icon circle"/>
          <p:cNvSpPr/>
          <p:nvPr/>
        </p:nvSpPr>
        <p:spPr>
          <a:xfrm>
            <a:off x="6917436" y="1828800"/>
            <a:ext cx="658368" cy="65836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8" name="icon LuScale" descr="LuScal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2277" y="1973641"/>
            <a:ext cx="368686" cy="368686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6172200" y="260604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Сравните</a:t>
            </a:r>
            <a:endParaRPr lang="en-US" sz="1700" dirty="0"/>
          </a:p>
        </p:txBody>
      </p:sp>
      <p:sp>
        <p:nvSpPr>
          <p:cNvPr id="20" name="Text 15"/>
          <p:cNvSpPr txBox="1"/>
          <p:nvPr/>
        </p:nvSpPr>
        <p:spPr>
          <a:xfrm>
            <a:off x="6217920" y="3063240"/>
            <a:ext cx="20574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те же вопросы после доработки: что стало с точностью и токенами?</a:t>
            </a:r>
            <a:endParaRPr lang="en-US" sz="1400" dirty="0"/>
          </a:p>
        </p:txBody>
      </p:sp>
      <p:sp>
        <p:nvSpPr>
          <p:cNvPr id="21" name="card"/>
          <p:cNvSpPr/>
          <p:nvPr/>
        </p:nvSpPr>
        <p:spPr>
          <a:xfrm>
            <a:off x="8732520" y="1600200"/>
            <a:ext cx="2999232" cy="2926080"/>
          </a:xfrm>
          <a:prstGeom prst="roundRect">
            <a:avLst>
              <a:gd name="adj" fmla="val 3750"/>
            </a:avLst>
          </a:prstGeom>
          <a:solidFill>
            <a:schemeClr val="accent4">
              <a:alpha val="10000"/>
            </a:schemeClr>
          </a:solidFill>
          <a:ln w="12700">
            <a:solidFill>
              <a:schemeClr val="accent4">
                <a:alpha val="45000"/>
              </a:schemeClr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8915400" y="17830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Вопросы агенту</a:t>
            </a:r>
            <a:endParaRPr lang="en-US" sz="1700" dirty="0"/>
          </a:p>
        </p:txBody>
      </p:sp>
      <p:sp>
        <p:nvSpPr>
          <p:cNvPr id="23" name="Text 18"/>
          <p:cNvSpPr txBox="1"/>
          <p:nvPr/>
        </p:nvSpPr>
        <p:spPr>
          <a:xfrm>
            <a:off x="8915400" y="2240280"/>
            <a:ext cx="26517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500" i="1" dirty="0">
                <a:solidFill>
                  <a:schemeClr val="tx1"/>
                </a:solidFill>
              </a:rPr>
              <a:t>«Сколько задач просрочено?»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i="1" dirty="0">
                <a:solidFill>
                  <a:schemeClr val="tx1"/>
                </a:solidFill>
              </a:rPr>
              <a:t>«Какие просроченные — с приоритетом high?»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i="1" dirty="0">
                <a:solidFill>
                  <a:schemeClr val="tx1"/>
                </a:solidFill>
              </a:rPr>
              <a:t>«Что нужно сделать на этой неделе?»</a:t>
            </a:r>
            <a:endParaRPr lang="en-US" sz="1500" dirty="0"/>
          </a:p>
        </p:txBody>
      </p:sp>
      <p:sp>
        <p:nvSpPr>
          <p:cNvPr id="24" name="Text 19"/>
          <p:cNvSpPr txBox="1"/>
          <p:nvPr/>
        </p:nvSpPr>
        <p:spPr>
          <a:xfrm>
            <a:off x="457200" y="4800600"/>
            <a:ext cx="11274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tx2"/>
                </a:solidFill>
              </a:rPr>
              <a:t>1.10. На подумать: почему фильтровать по датам лучше в коде, а не в голове модели? Чем MCP-сервер отличается от обёртки над REST API?</a:t>
            </a:r>
            <a:endParaRPr lang="en-US" sz="1500" dirty="0"/>
          </a:p>
        </p:txBody>
      </p:sp>
      <p:sp>
        <p:nvSpPr>
          <p:cNvPr id="25" name="takeaway"/>
          <p:cNvSpPr/>
          <p:nvPr/>
        </p:nvSpPr>
        <p:spPr>
          <a:xfrm>
            <a:off x="457200" y="5760720"/>
            <a:ext cx="11274552" cy="658368"/>
          </a:xfrm>
          <a:prstGeom prst="roundRect">
            <a:avLst>
              <a:gd name="adj" fmla="val 16667"/>
            </a:avLst>
          </a:prstGeom>
          <a:solidFill>
            <a:schemeClr val="accent1">
              <a:alpha val="10000"/>
            </a:schemeClr>
          </a:solidFill>
          <a:ln w="12700">
            <a:solidFill>
              <a:schemeClr val="accent1">
                <a:alpha val="45000"/>
              </a:schemeClr>
            </a:solidFill>
            <a:prstDash val="solid"/>
          </a:ln>
        </p:spPr>
      </p:sp>
      <p:pic>
        <p:nvPicPr>
          <p:cNvPr id="26" name="icon target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5888736"/>
            <a:ext cx="402336" cy="402336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1280160" y="5815584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MCP-сервер — не зеркало REST API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Он проектируется под задачи агента: фильтры, краткие ответы, понятные ошибки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922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31520" y="182880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6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6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31520" y="301752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Отчёт по задачам</a:t>
            </a:r>
            <a:endParaRPr lang="en-US" sz="3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731520" y="402336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bg1"/>
                </a:solidFill>
              </a:rPr>
              <a:t>Сколько стоит отчёт, который агент каждый раз собирает с нуля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922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BD5E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2.1–2.5. Отчёт в Excel с нуля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896112"/>
            <a:ext cx="11274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Придумайте формат отчёта и попросите агента сделать файл .xlsx</a:t>
            </a:r>
            <a:endParaRPr lang="en-US" sz="1600" dirty="0"/>
          </a:p>
        </p:txBody>
      </p:sp>
      <p:sp>
        <p:nvSpPr>
          <p:cNvPr id="4" name="card"/>
          <p:cNvSpPr/>
          <p:nvPr/>
        </p:nvSpPr>
        <p:spPr>
          <a:xfrm>
            <a:off x="457200" y="1600200"/>
            <a:ext cx="5486400" cy="868680"/>
          </a:xfrm>
          <a:prstGeom prst="roundRect">
            <a:avLst>
              <a:gd name="adj" fmla="val 12632"/>
            </a:avLst>
          </a:prstGeom>
          <a:solidFill>
            <a:schemeClr val="accent1">
              <a:alpha val="10000"/>
            </a:schemeClr>
          </a:solidFill>
          <a:ln w="12700">
            <a:solidFill>
              <a:schemeClr val="accent1">
                <a:alpha val="45000"/>
              </a:schemeClr>
            </a:solidFill>
            <a:prstDash val="solid"/>
          </a:ln>
        </p:spPr>
      </p:sp>
      <p:sp>
        <p:nvSpPr>
          <p:cNvPr id="5" name="number"/>
          <p:cNvSpPr/>
          <p:nvPr/>
        </p:nvSpPr>
        <p:spPr>
          <a:xfrm>
            <a:off x="658368" y="1751076"/>
            <a:ext cx="566928" cy="5669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417320" y="1709928"/>
            <a:ext cx="434340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Сгенерируйте задачи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cd apps &amp;&amp; python seed.py 30</a:t>
            </a:r>
            <a:endParaRPr lang="en-US" sz="1500" dirty="0"/>
          </a:p>
        </p:txBody>
      </p:sp>
      <p:sp>
        <p:nvSpPr>
          <p:cNvPr id="7" name="card"/>
          <p:cNvSpPr/>
          <p:nvPr/>
        </p:nvSpPr>
        <p:spPr>
          <a:xfrm>
            <a:off x="457200" y="2606040"/>
            <a:ext cx="5486400" cy="960120"/>
          </a:xfrm>
          <a:prstGeom prst="roundRect">
            <a:avLst>
              <a:gd name="adj" fmla="val 11429"/>
            </a:avLst>
          </a:prstGeom>
          <a:solidFill>
            <a:schemeClr val="accent3">
              <a:alpha val="10000"/>
            </a:schemeClr>
          </a:solidFill>
          <a:ln w="12700">
            <a:solidFill>
              <a:schemeClr val="accent3">
                <a:alpha val="45000"/>
              </a:schemeClr>
            </a:solidFill>
            <a:prstDash val="solid"/>
          </a:ln>
        </p:spPr>
      </p:sp>
      <p:sp>
        <p:nvSpPr>
          <p:cNvPr id="8" name="number"/>
          <p:cNvSpPr/>
          <p:nvPr/>
        </p:nvSpPr>
        <p:spPr>
          <a:xfrm>
            <a:off x="658368" y="2802636"/>
            <a:ext cx="566928" cy="56692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2.2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417320" y="2715768"/>
            <a:ext cx="434340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Попросите отчёт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например: сводка по приоритетам, просроченные, задачи по неделям, процент выполненных</a:t>
            </a:r>
            <a:endParaRPr lang="en-US" sz="1500" dirty="0"/>
          </a:p>
        </p:txBody>
      </p:sp>
      <p:sp>
        <p:nvSpPr>
          <p:cNvPr id="10" name="card"/>
          <p:cNvSpPr/>
          <p:nvPr/>
        </p:nvSpPr>
        <p:spPr>
          <a:xfrm>
            <a:off x="457200" y="3703320"/>
            <a:ext cx="5486400" cy="914400"/>
          </a:xfrm>
          <a:prstGeom prst="roundRect">
            <a:avLst>
              <a:gd name="adj" fmla="val 12000"/>
            </a:avLst>
          </a:prstGeom>
          <a:solidFill>
            <a:schemeClr val="accent2">
              <a:alpha val="10000"/>
            </a:schemeClr>
          </a:solidFill>
          <a:ln w="12700">
            <a:solidFill>
              <a:schemeClr val="accent2">
                <a:alpha val="45000"/>
              </a:schemeClr>
            </a:solidFill>
            <a:prstDash val="solid"/>
          </a:ln>
        </p:spPr>
      </p:sp>
      <p:sp>
        <p:nvSpPr>
          <p:cNvPr id="11" name="number"/>
          <p:cNvSpPr/>
          <p:nvPr/>
        </p:nvSpPr>
        <p:spPr>
          <a:xfrm>
            <a:off x="658368" y="3877056"/>
            <a:ext cx="566928" cy="56692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2.3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417320" y="3813048"/>
            <a:ext cx="43434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Посмотрите, как агент это делает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что он установил и написал сам? Сколько шагов и времени ушло?</a:t>
            </a:r>
            <a:endParaRPr lang="en-US" sz="1500" dirty="0"/>
          </a:p>
        </p:txBody>
      </p:sp>
      <p:sp>
        <p:nvSpPr>
          <p:cNvPr id="13" name="card"/>
          <p:cNvSpPr/>
          <p:nvPr/>
        </p:nvSpPr>
        <p:spPr>
          <a:xfrm>
            <a:off x="457200" y="4754880"/>
            <a:ext cx="5486400" cy="868680"/>
          </a:xfrm>
          <a:prstGeom prst="roundRect">
            <a:avLst>
              <a:gd name="adj" fmla="val 12632"/>
            </a:avLst>
          </a:prstGeom>
          <a:solidFill>
            <a:schemeClr val="accent6">
              <a:alpha val="10000"/>
            </a:schemeClr>
          </a:solidFill>
          <a:ln w="12700">
            <a:solidFill>
              <a:schemeClr val="accent6">
                <a:alpha val="45000"/>
              </a:schemeClr>
            </a:solidFill>
            <a:prstDash val="solid"/>
          </a:ln>
        </p:spPr>
      </p:sp>
      <p:sp>
        <p:nvSpPr>
          <p:cNvPr id="14" name="number"/>
          <p:cNvSpPr/>
          <p:nvPr/>
        </p:nvSpPr>
        <p:spPr>
          <a:xfrm>
            <a:off x="658368" y="4905756"/>
            <a:ext cx="566928" cy="566928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2.4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417320" y="4864608"/>
            <a:ext cx="434340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Подумайте, как упростить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готовый MCP-сервер для Excel или свой skill — чтобы не писать код с нуля каждый раз</a:t>
            </a:r>
            <a:endParaRPr lang="en-US" sz="1500" dirty="0"/>
          </a:p>
        </p:txBody>
      </p:sp>
      <p:sp>
        <p:nvSpPr>
          <p:cNvPr id="16" name="code"/>
          <p:cNvSpPr txBox="1"/>
          <p:nvPr/>
        </p:nvSpPr>
        <p:spPr>
          <a:xfrm>
            <a:off x="6263640" y="1600200"/>
            <a:ext cx="5468112" cy="4023360"/>
          </a:xfrm>
          <a:prstGeom prst="roundRect">
            <a:avLst>
              <a:gd name="adj" fmla="val 2273"/>
            </a:avLst>
          </a:prstGeom>
          <a:solidFill>
            <a:srgbClr val="22375A"/>
          </a:solidFill>
          <a:ln w="12700">
            <a:solidFill>
              <a:srgbClr val="22375A"/>
            </a:solidFill>
          </a:ln>
        </p:spPr>
        <p:txBody>
          <a:bodyPr wrap="square" lIns="152400" tIns="177800" rIns="177800" bIns="15240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экспорт траектории в Qwen Code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/export html run1.html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/export html run2.html</a:t>
            </a:r>
            <a:endParaRPr lang="en-US" sz="1400" dirty="0"/>
          </a:p>
          <a:p>
            <a:pPr algn="l" indent="0" marL="0">
              <a:buNone/>
            </a:pP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что сравнивать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- шаги и вызовы tools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- что ставил и писал сам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- ошибки и повторы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- насколько отличается результат</a:t>
            </a:r>
            <a:endParaRPr lang="en-US" sz="1400" dirty="0"/>
          </a:p>
        </p:txBody>
      </p:sp>
      <p:sp>
        <p:nvSpPr>
          <p:cNvPr id="17" name="takeaway"/>
          <p:cNvSpPr/>
          <p:nvPr/>
        </p:nvSpPr>
        <p:spPr>
          <a:xfrm>
            <a:off x="457200" y="5760720"/>
            <a:ext cx="11274552" cy="658368"/>
          </a:xfrm>
          <a:prstGeom prst="roundRect">
            <a:avLst>
              <a:gd name="adj" fmla="val 16667"/>
            </a:avLst>
          </a:prstGeom>
          <a:solidFill>
            <a:schemeClr val="accent3">
              <a:alpha val="10000"/>
            </a:schemeClr>
          </a:solidFill>
          <a:ln w="12700">
            <a:solidFill>
              <a:schemeClr val="accent3">
                <a:alpha val="45000"/>
              </a:schemeClr>
            </a:solidFill>
            <a:prstDash val="solid"/>
          </a:ln>
        </p:spPr>
      </p:sp>
      <p:pic>
        <p:nvPicPr>
          <p:cNvPr id="18" name="icon target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5888736"/>
            <a:ext cx="402336" cy="402336"/>
          </a:xfrm>
          <a:prstGeom prst="rect">
            <a:avLst/>
          </a:prstGeom>
        </p:spPr>
      </p:pic>
      <p:sp>
        <p:nvSpPr>
          <p:cNvPr id="19" name="Text 16"/>
          <p:cNvSpPr txBox="1"/>
          <p:nvPr/>
        </p:nvSpPr>
        <p:spPr>
          <a:xfrm>
            <a:off x="1280160" y="5815584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2.5. Повторите задание 2.2 несколько раз и сравните траектории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Экспортируйте каждую через /export: шаги, вызовы tools, что ставил сам, ошибки, насколько отличается результат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922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31520" y="182880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6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6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31520" y="301752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Prompts</a:t>
            </a:r>
            <a:endParaRPr lang="en-US" sz="3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731520" y="402336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bg1"/>
                </a:solidFill>
              </a:rPr>
              <a:t>Сценарии, которые вызывает пользователь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922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BD5E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3.1–3.2. Свой сценарий @mcp.prompt()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896112"/>
            <a:ext cx="11274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В server.py есть заготовка do_something: превратите её в настоящий сценарий</a:t>
            </a:r>
            <a:endParaRPr lang="en-US" sz="1600" dirty="0"/>
          </a:p>
        </p:txBody>
      </p:sp>
      <p:sp>
        <p:nvSpPr>
          <p:cNvPr id="4" name="code"/>
          <p:cNvSpPr txBox="1"/>
          <p:nvPr/>
        </p:nvSpPr>
        <p:spPr>
          <a:xfrm>
            <a:off x="457200" y="1600200"/>
            <a:ext cx="5120640" cy="1280160"/>
          </a:xfrm>
          <a:prstGeom prst="roundRect">
            <a:avLst>
              <a:gd name="adj" fmla="val 7143"/>
            </a:avLst>
          </a:prstGeom>
          <a:solidFill>
            <a:srgbClr val="22375A"/>
          </a:solidFill>
          <a:ln w="12700">
            <a:solidFill>
              <a:srgbClr val="22375A"/>
            </a:solidFill>
          </a:ln>
        </p:spPr>
        <p:txBody>
          <a:bodyPr wrap="square" lIns="152400" tIns="177800" rIns="177800" bIns="15240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@mcp.prompt()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do_something() -&gt; str: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TODO: придумываем сценарий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raise NotImplementedError()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3154680"/>
            <a:ext cx="51206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Prompt может принимать аргументы и подставлять в текст актуальные задачи из _get("/api/tasks")</a:t>
            </a:r>
            <a:endParaRPr lang="en-US" sz="15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Проверьте в Inspector (вкладка Prompts), потом в агенте. Ресурсы в Qwen подключаются так: @todo:todo://tasks/1</a:t>
            </a:r>
            <a:endParaRPr lang="en-US" sz="1500" dirty="0"/>
          </a:p>
        </p:txBody>
      </p:sp>
      <p:sp>
        <p:nvSpPr>
          <p:cNvPr id="6" name="card"/>
          <p:cNvSpPr/>
          <p:nvPr/>
        </p:nvSpPr>
        <p:spPr>
          <a:xfrm>
            <a:off x="5897880" y="1600200"/>
            <a:ext cx="5833872" cy="841248"/>
          </a:xfrm>
          <a:prstGeom prst="roundRect">
            <a:avLst>
              <a:gd name="adj" fmla="val 13043"/>
            </a:avLst>
          </a:prstGeom>
          <a:solidFill>
            <a:schemeClr val="accent4">
              <a:alpha val="10000"/>
            </a:schemeClr>
          </a:solidFill>
          <a:ln w="12700">
            <a:solidFill>
              <a:schemeClr val="accent4">
                <a:alpha val="45000"/>
              </a:schemeClr>
            </a:solidFill>
            <a:prstDash val="solid"/>
          </a:ln>
        </p:spPr>
      </p:sp>
      <p:sp>
        <p:nvSpPr>
          <p:cNvPr id="7" name="icon circle"/>
          <p:cNvSpPr/>
          <p:nvPr/>
        </p:nvSpPr>
        <p:spPr>
          <a:xfrm>
            <a:off x="6099048" y="1737360"/>
            <a:ext cx="566928" cy="56692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8" name="icon LuFilter" descr="LuFilt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23772" y="1862084"/>
            <a:ext cx="317480" cy="31748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6858000" y="1691640"/>
            <a:ext cx="46908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Отметь выполненными задачи со словом W, просроченные больше чем на N дней</a:t>
            </a:r>
            <a:endParaRPr lang="en-US" sz="1500" dirty="0"/>
          </a:p>
        </p:txBody>
      </p:sp>
      <p:sp>
        <p:nvSpPr>
          <p:cNvPr id="10" name="card"/>
          <p:cNvSpPr/>
          <p:nvPr/>
        </p:nvSpPr>
        <p:spPr>
          <a:xfrm>
            <a:off x="5897880" y="2587752"/>
            <a:ext cx="5833872" cy="841248"/>
          </a:xfrm>
          <a:prstGeom prst="roundRect">
            <a:avLst>
              <a:gd name="adj" fmla="val 13043"/>
            </a:avLst>
          </a:prstGeom>
          <a:solidFill>
            <a:schemeClr val="accent1">
              <a:alpha val="10000"/>
            </a:schemeClr>
          </a:solidFill>
          <a:ln w="12700">
            <a:solidFill>
              <a:schemeClr val="accent1">
                <a:alpha val="45000"/>
              </a:schemeClr>
            </a:solidFill>
            <a:prstDash val="solid"/>
          </a:ln>
        </p:spPr>
      </p:sp>
      <p:sp>
        <p:nvSpPr>
          <p:cNvPr id="11" name="icon circle"/>
          <p:cNvSpPr/>
          <p:nvPr/>
        </p:nvSpPr>
        <p:spPr>
          <a:xfrm>
            <a:off x="6099048" y="2724912"/>
            <a:ext cx="566928" cy="5669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2" name="icon LuCalendarDays" descr="LuCalendarDay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3772" y="2849636"/>
            <a:ext cx="317480" cy="31748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6858000" y="2679192"/>
            <a:ext cx="46908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Спланируй день</a:t>
            </a:r>
            <a:endParaRPr lang="en-US" sz="1500" dirty="0"/>
          </a:p>
        </p:txBody>
      </p:sp>
      <p:sp>
        <p:nvSpPr>
          <p:cNvPr id="14" name="card"/>
          <p:cNvSpPr/>
          <p:nvPr/>
        </p:nvSpPr>
        <p:spPr>
          <a:xfrm>
            <a:off x="5897880" y="3575304"/>
            <a:ext cx="5833872" cy="841248"/>
          </a:xfrm>
          <a:prstGeom prst="roundRect">
            <a:avLst>
              <a:gd name="adj" fmla="val 13043"/>
            </a:avLst>
          </a:prstGeom>
          <a:solidFill>
            <a:schemeClr val="accent3">
              <a:alpha val="10000"/>
            </a:schemeClr>
          </a:solidFill>
          <a:ln w="12700">
            <a:solidFill>
              <a:schemeClr val="accent3">
                <a:alpha val="45000"/>
              </a:schemeClr>
            </a:solidFill>
            <a:prstDash val="solid"/>
          </a:ln>
        </p:spPr>
      </p:sp>
      <p:sp>
        <p:nvSpPr>
          <p:cNvPr id="15" name="icon circle"/>
          <p:cNvSpPr/>
          <p:nvPr/>
        </p:nvSpPr>
        <p:spPr>
          <a:xfrm>
            <a:off x="6099048" y="3712464"/>
            <a:ext cx="566928" cy="56692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6" name="icon LuFileText" descr="LuFileTex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3772" y="3837188"/>
            <a:ext cx="317480" cy="31748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858000" y="3666744"/>
            <a:ext cx="46908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Недельный отчёт по задачам</a:t>
            </a:r>
            <a:endParaRPr lang="en-US" sz="1500" dirty="0"/>
          </a:p>
        </p:txBody>
      </p:sp>
      <p:sp>
        <p:nvSpPr>
          <p:cNvPr id="18" name="card"/>
          <p:cNvSpPr/>
          <p:nvPr/>
        </p:nvSpPr>
        <p:spPr>
          <a:xfrm>
            <a:off x="5897880" y="4562856"/>
            <a:ext cx="5833872" cy="841248"/>
          </a:xfrm>
          <a:prstGeom prst="roundRect">
            <a:avLst>
              <a:gd name="adj" fmla="val 13043"/>
            </a:avLst>
          </a:prstGeom>
          <a:solidFill>
            <a:schemeClr val="accent2">
              <a:alpha val="10000"/>
            </a:schemeClr>
          </a:solidFill>
          <a:ln w="12700">
            <a:solidFill>
              <a:schemeClr val="accent2">
                <a:alpha val="45000"/>
              </a:schemeClr>
            </a:solidFill>
            <a:prstDash val="solid"/>
          </a:ln>
        </p:spPr>
      </p:sp>
      <p:sp>
        <p:nvSpPr>
          <p:cNvPr id="19" name="icon circle"/>
          <p:cNvSpPr/>
          <p:nvPr/>
        </p:nvSpPr>
        <p:spPr>
          <a:xfrm>
            <a:off x="6099048" y="4700016"/>
            <a:ext cx="566928" cy="56692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0" name="icon LuListOrdered" descr="LuListOrdered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3772" y="4824740"/>
            <a:ext cx="317480" cy="31748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6858000" y="4654296"/>
            <a:ext cx="46908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Предложи приоритеты</a:t>
            </a:r>
            <a:endParaRPr lang="en-US" sz="1500" dirty="0"/>
          </a:p>
        </p:txBody>
      </p:sp>
      <p:sp>
        <p:nvSpPr>
          <p:cNvPr id="22" name="takeaway"/>
          <p:cNvSpPr/>
          <p:nvPr/>
        </p:nvSpPr>
        <p:spPr>
          <a:xfrm>
            <a:off x="457200" y="5760720"/>
            <a:ext cx="11274552" cy="658368"/>
          </a:xfrm>
          <a:prstGeom prst="roundRect">
            <a:avLst>
              <a:gd name="adj" fmla="val 16667"/>
            </a:avLst>
          </a:prstGeom>
          <a:solidFill>
            <a:schemeClr val="accent4">
              <a:alpha val="10000"/>
            </a:schemeClr>
          </a:solidFill>
          <a:ln w="12700">
            <a:solidFill>
              <a:schemeClr val="accent4">
                <a:alpha val="45000"/>
              </a:schemeClr>
            </a:solidFill>
            <a:prstDash val="solid"/>
          </a:ln>
        </p:spPr>
      </p:sp>
      <p:pic>
        <p:nvPicPr>
          <p:cNvPr id="23" name="icon target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5888736"/>
            <a:ext cx="402336" cy="402336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1280160" y="5815584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3.2. Зачем prompt, если можно написать в чат?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Кто его вызывает: модель, пользователь или клиент? Чем он отличается от tool, resource и skill?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922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31520" y="182880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6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6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31520" y="301752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Resources</a:t>
            </a:r>
            <a:endParaRPr lang="en-US" sz="3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731520" y="402336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bg1"/>
                </a:solidFill>
              </a:rPr>
              <a:t>Данные, которые в контекст кладёт host, а не модель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922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BD5E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4.1–4.2. Свой resource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896112"/>
            <a:ext cx="11274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Resource с постоянным URI удобнее шаблона: клиент показывает его в списке</a:t>
            </a:r>
            <a:endParaRPr lang="en-US" sz="1600" dirty="0"/>
          </a:p>
        </p:txBody>
      </p:sp>
      <p:sp>
        <p:nvSpPr>
          <p:cNvPr id="4" name="card"/>
          <p:cNvSpPr/>
          <p:nvPr/>
        </p:nvSpPr>
        <p:spPr>
          <a:xfrm>
            <a:off x="457200" y="1600200"/>
            <a:ext cx="5486400" cy="1188720"/>
          </a:xfrm>
          <a:prstGeom prst="roundRect">
            <a:avLst>
              <a:gd name="adj" fmla="val 9231"/>
            </a:avLst>
          </a:prstGeom>
          <a:solidFill>
            <a:schemeClr val="accent3">
              <a:alpha val="10000"/>
            </a:schemeClr>
          </a:solidFill>
          <a:ln w="12700">
            <a:solidFill>
              <a:schemeClr val="accent3">
                <a:alpha val="45000"/>
              </a:schemeClr>
            </a:solidFill>
            <a:prstDash val="solid"/>
          </a:ln>
        </p:spPr>
      </p:sp>
      <p:sp>
        <p:nvSpPr>
          <p:cNvPr id="5" name="number"/>
          <p:cNvSpPr/>
          <p:nvPr/>
        </p:nvSpPr>
        <p:spPr>
          <a:xfrm>
            <a:off x="658368" y="1911096"/>
            <a:ext cx="566928" cy="56692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417320" y="1709928"/>
            <a:ext cx="434340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Напишите resource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@mcp.resource() с URI todo://digest: открытые задачи, сначала просроченные, затем по сроку</a:t>
            </a:r>
            <a:endParaRPr lang="en-US" sz="1500" dirty="0"/>
          </a:p>
        </p:txBody>
      </p:sp>
      <p:sp>
        <p:nvSpPr>
          <p:cNvPr id="7" name="card"/>
          <p:cNvSpPr/>
          <p:nvPr/>
        </p:nvSpPr>
        <p:spPr>
          <a:xfrm>
            <a:off x="457200" y="2926080"/>
            <a:ext cx="5486400" cy="1188720"/>
          </a:xfrm>
          <a:prstGeom prst="roundRect">
            <a:avLst>
              <a:gd name="adj" fmla="val 9231"/>
            </a:avLst>
          </a:prstGeom>
          <a:solidFill>
            <a:schemeClr val="accent1">
              <a:alpha val="10000"/>
            </a:schemeClr>
          </a:solidFill>
          <a:ln w="12700">
            <a:solidFill>
              <a:schemeClr val="accent1">
                <a:alpha val="45000"/>
              </a:schemeClr>
            </a:solidFill>
            <a:prstDash val="solid"/>
          </a:ln>
        </p:spPr>
      </p:sp>
      <p:sp>
        <p:nvSpPr>
          <p:cNvPr id="8" name="number"/>
          <p:cNvSpPr/>
          <p:nvPr/>
        </p:nvSpPr>
        <p:spPr>
          <a:xfrm>
            <a:off x="658368" y="3236976"/>
            <a:ext cx="566928" cy="5669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417320" y="3035808"/>
            <a:ext cx="434340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Проверьте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в Inspector (вкладка Resources), потом в агенте: @todo:todo://digest составь план на день</a:t>
            </a:r>
            <a:endParaRPr lang="en-US" sz="1500" dirty="0"/>
          </a:p>
        </p:txBody>
      </p:sp>
      <p:sp>
        <p:nvSpPr>
          <p:cNvPr id="10" name="card"/>
          <p:cNvSpPr/>
          <p:nvPr/>
        </p:nvSpPr>
        <p:spPr>
          <a:xfrm>
            <a:off x="457200" y="4251960"/>
            <a:ext cx="5486400" cy="1188720"/>
          </a:xfrm>
          <a:prstGeom prst="roundRect">
            <a:avLst>
              <a:gd name="adj" fmla="val 9231"/>
            </a:avLst>
          </a:prstGeom>
          <a:solidFill>
            <a:schemeClr val="accent4">
              <a:alpha val="10000"/>
            </a:schemeClr>
          </a:solidFill>
          <a:ln w="12700">
            <a:solidFill>
              <a:schemeClr val="accent4">
                <a:alpha val="45000"/>
              </a:schemeClr>
            </a:solidFill>
            <a:prstDash val="solid"/>
          </a:ln>
        </p:spPr>
      </p:sp>
      <p:sp>
        <p:nvSpPr>
          <p:cNvPr id="11" name="number"/>
          <p:cNvSpPr/>
          <p:nvPr/>
        </p:nvSpPr>
        <p:spPr>
          <a:xfrm>
            <a:off x="658368" y="4562856"/>
            <a:ext cx="566928" cy="56692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417320" y="4361688"/>
            <a:ext cx="434340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На подумать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кто решает, что resource попадёт в контекст? Resource ничего не меняет — значит ли это, что он безопасен?</a:t>
            </a:r>
            <a:endParaRPr lang="en-US" sz="1500" dirty="0"/>
          </a:p>
        </p:txBody>
      </p:sp>
      <p:sp>
        <p:nvSpPr>
          <p:cNvPr id="13" name="code"/>
          <p:cNvSpPr txBox="1"/>
          <p:nvPr/>
        </p:nvSpPr>
        <p:spPr>
          <a:xfrm>
            <a:off x="6263640" y="1600200"/>
            <a:ext cx="5468112" cy="3840480"/>
          </a:xfrm>
          <a:prstGeom prst="roundRect">
            <a:avLst>
              <a:gd name="adj" fmla="val 2381"/>
            </a:avLst>
          </a:prstGeom>
          <a:solidFill>
            <a:srgbClr val="22375A"/>
          </a:solidFill>
          <a:ln w="12700">
            <a:solidFill>
              <a:srgbClr val="22375A"/>
            </a:solidFill>
          </a:ln>
        </p:spPr>
        <p:txBody>
          <a:bodyPr wrap="square" lIns="152400" tIns="177800" rIns="177800" bIns="15240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@mcp.resource("todo://digest",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mime_type="application/json")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digest() -&gt; str: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"""Открытые задачи: сначала просроченные,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затем по сроку."""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TODO: _get("/api/tasks?done=false"),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      сортировка, json.dumps(...)</a:t>
            </a:r>
            <a:endParaRPr lang="en-US" sz="1300" dirty="0"/>
          </a:p>
        </p:txBody>
      </p:sp>
      <p:sp>
        <p:nvSpPr>
          <p:cNvPr id="14" name="takeaway"/>
          <p:cNvSpPr/>
          <p:nvPr/>
        </p:nvSpPr>
        <p:spPr>
          <a:xfrm>
            <a:off x="457200" y="5760720"/>
            <a:ext cx="11274552" cy="658368"/>
          </a:xfrm>
          <a:prstGeom prst="roundRect">
            <a:avLst>
              <a:gd name="adj" fmla="val 16667"/>
            </a:avLst>
          </a:prstGeom>
          <a:solidFill>
            <a:schemeClr val="accent3">
              <a:alpha val="10000"/>
            </a:schemeClr>
          </a:solidFill>
          <a:ln w="12700">
            <a:solidFill>
              <a:schemeClr val="accent3">
                <a:alpha val="45000"/>
              </a:schemeClr>
            </a:solidFill>
            <a:prstDash val="solid"/>
          </a:ln>
        </p:spPr>
      </p:sp>
      <p:pic>
        <p:nvPicPr>
          <p:cNvPr id="15" name="icon target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5888736"/>
            <a:ext cx="402336" cy="402336"/>
          </a:xfrm>
          <a:prstGeom prst="rect">
            <a:avLst/>
          </a:prstGeom>
        </p:spPr>
      </p:pic>
      <p:sp>
        <p:nvSpPr>
          <p:cNvPr id="16" name="Text 13"/>
          <p:cNvSpPr txBox="1"/>
          <p:nvPr/>
        </p:nvSpPr>
        <p:spPr>
          <a:xfrm>
            <a:off x="1280160" y="5815584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 выбирает модель, resource кладёт host или пользователь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Resource без побочных эффектов — ещё не значит безопасный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922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31520" y="182880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6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6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31520" y="301752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Агент в контейнере</a:t>
            </a:r>
            <a:endParaRPr lang="en-US" sz="3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731520" y="402336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bg1"/>
                </a:solidFill>
              </a:rPr>
              <a:t>Тот же агент, но в изолированном окружении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922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BD5E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5.1–5.2. Образ и настройки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896112"/>
            <a:ext cx="11274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Образ собирается один раз (1–2 минуты), из корня репозитория</a:t>
            </a:r>
            <a:endParaRPr lang="en-US" sz="1600" dirty="0"/>
          </a:p>
        </p:txBody>
      </p:sp>
      <p:sp>
        <p:nvSpPr>
          <p:cNvPr id="4" name="code"/>
          <p:cNvSpPr txBox="1"/>
          <p:nvPr/>
        </p:nvSpPr>
        <p:spPr>
          <a:xfrm>
            <a:off x="457200" y="1600200"/>
            <a:ext cx="5486400" cy="3886200"/>
          </a:xfrm>
          <a:prstGeom prst="roundRect">
            <a:avLst>
              <a:gd name="adj" fmla="val 2353"/>
            </a:avLst>
          </a:prstGeom>
          <a:solidFill>
            <a:srgbClr val="22375A"/>
          </a:solidFill>
          <a:ln w="12700">
            <a:solidFill>
              <a:srgbClr val="22375A"/>
            </a:solidFill>
          </a:ln>
        </p:spPr>
        <p:txBody>
          <a:bodyPr wrap="square" lIns="152400" tIns="177800" rIns="177800" bIns="15240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build -t qwen-agent - &lt;&lt;'EOF'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node:22-bookworm-slim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 apt-get update &amp;&amp; apt-get install -y \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--no-install-recommends python3 \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python3-venv ca-certificates \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&amp;&amp; rm -rf /var/lib/apt/lists/*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 python3 -m venv /opt/venv &amp;&amp; \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/opt/venv/bin/pip install --no-cache-dir \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"mcp&gt;=1.9,&lt;3" "flask&gt;=3.0" uv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ENV PATH="/opt/venv/bin:$PATH"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 npm install -g @qwen-code/qwen-code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 node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WORKDIR /workspace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ENTRYPOINT ["qwen"]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EOF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263640" y="1600200"/>
            <a:ext cx="5468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settings.docker.json: те же настройки модели, другой mcpServers</a:t>
            </a:r>
            <a:endParaRPr lang="en-US" sz="1500" dirty="0"/>
          </a:p>
        </p:txBody>
      </p:sp>
      <p:sp>
        <p:nvSpPr>
          <p:cNvPr id="6" name="code"/>
          <p:cNvSpPr txBox="1"/>
          <p:nvPr/>
        </p:nvSpPr>
        <p:spPr>
          <a:xfrm>
            <a:off x="6263640" y="2011680"/>
            <a:ext cx="5468112" cy="2057400"/>
          </a:xfrm>
          <a:prstGeom prst="roundRect">
            <a:avLst>
              <a:gd name="adj" fmla="val 4444"/>
            </a:avLst>
          </a:prstGeom>
          <a:solidFill>
            <a:srgbClr val="22375A"/>
          </a:solidFill>
          <a:ln w="12700">
            <a:solidFill>
              <a:srgbClr val="22375A"/>
            </a:solidFill>
          </a:ln>
        </p:spPr>
        <p:txBody>
          <a:bodyPr wrap="square" lIns="152400" tIns="177800" rIns="177800" bIns="15240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"mcpServers": {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"todo": {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"command": "python",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"args": ["/opt/todo-mcp/server.py"],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"env": { "TODO_API_URL":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"http://host.docker.internal:5000" }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7" name="card"/>
          <p:cNvSpPr/>
          <p:nvPr/>
        </p:nvSpPr>
        <p:spPr>
          <a:xfrm>
            <a:off x="6263640" y="4206240"/>
            <a:ext cx="5468112" cy="1280160"/>
          </a:xfrm>
          <a:prstGeom prst="roundRect">
            <a:avLst>
              <a:gd name="adj" fmla="val 8571"/>
            </a:avLst>
          </a:prstGeom>
          <a:solidFill>
            <a:schemeClr val="accent4">
              <a:alpha val="10000"/>
            </a:schemeClr>
          </a:solidFill>
          <a:ln w="12700">
            <a:solidFill>
              <a:schemeClr val="accent4">
                <a:alpha val="45000"/>
              </a:schemeClr>
            </a:solidFill>
            <a:prstDash val="solid"/>
          </a:ln>
        </p:spPr>
      </p:sp>
      <p:sp>
        <p:nvSpPr>
          <p:cNvPr id="8" name="icon circle"/>
          <p:cNvSpPr/>
          <p:nvPr/>
        </p:nvSpPr>
        <p:spPr>
          <a:xfrm>
            <a:off x="6464808" y="4562856"/>
            <a:ext cx="566928" cy="56692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9" name="icon LuFileCog" descr="LuFileCo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9532" y="4687580"/>
            <a:ext cx="317480" cy="31748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7223760" y="4297680"/>
            <a:ext cx="432511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Почему отдельный файл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внутри контейнера пути другие, settings.json с путями хоста не подойдёт</a:t>
            </a:r>
            <a:endParaRPr lang="en-US" sz="1500" dirty="0"/>
          </a:p>
        </p:txBody>
      </p:sp>
      <p:sp>
        <p:nvSpPr>
          <p:cNvPr id="11" name="takeaway"/>
          <p:cNvSpPr/>
          <p:nvPr/>
        </p:nvSpPr>
        <p:spPr>
          <a:xfrm>
            <a:off x="457200" y="5760720"/>
            <a:ext cx="11274552" cy="658368"/>
          </a:xfrm>
          <a:prstGeom prst="roundRect">
            <a:avLst>
              <a:gd name="adj" fmla="val 16667"/>
            </a:avLst>
          </a:prstGeom>
          <a:solidFill>
            <a:schemeClr val="accent1">
              <a:alpha val="10000"/>
            </a:schemeClr>
          </a:solidFill>
          <a:ln w="12700">
            <a:solidFill>
              <a:schemeClr val="accent1">
                <a:alpha val="45000"/>
              </a:schemeClr>
            </a:solidFill>
            <a:prstDash val="solid"/>
          </a:ln>
        </p:spPr>
      </p:sp>
      <p:pic>
        <p:nvPicPr>
          <p:cNvPr id="12" name="icon target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5888736"/>
            <a:ext cx="402336" cy="402336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280160" y="5815584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Проверено в Docker Desktop (macOS)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Linux: --add-host=host.docker.internal:host-gateway и --user "$(id -u):$(id -g)", приложение слушает не только 127.0.0.1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922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5.3–5.4. Запуск и проверка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896112"/>
            <a:ext cx="11274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По умолчанию из контейнера видно только то, что вы смонтировали</a:t>
            </a:r>
            <a:endParaRPr lang="en-US" sz="1600" dirty="0"/>
          </a:p>
        </p:txBody>
      </p:sp>
      <p:sp>
        <p:nvSpPr>
          <p:cNvPr id="4" name="card"/>
          <p:cNvSpPr/>
          <p:nvPr/>
        </p:nvSpPr>
        <p:spPr>
          <a:xfrm>
            <a:off x="457200" y="1600200"/>
            <a:ext cx="5486400" cy="868680"/>
          </a:xfrm>
          <a:prstGeom prst="roundRect">
            <a:avLst>
              <a:gd name="adj" fmla="val 12632"/>
            </a:avLst>
          </a:prstGeom>
          <a:solidFill>
            <a:schemeClr val="accent3">
              <a:alpha val="10000"/>
            </a:schemeClr>
          </a:solidFill>
          <a:ln w="12700">
            <a:solidFill>
              <a:schemeClr val="accent3">
                <a:alpha val="45000"/>
              </a:schemeClr>
            </a:solidFill>
            <a:prstDash val="solid"/>
          </a:ln>
        </p:spPr>
      </p:sp>
      <p:sp>
        <p:nvSpPr>
          <p:cNvPr id="5" name="icon circle"/>
          <p:cNvSpPr/>
          <p:nvPr/>
        </p:nvSpPr>
        <p:spPr>
          <a:xfrm>
            <a:off x="658368" y="1751076"/>
            <a:ext cx="566928" cy="56692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6" name="icon LuFolderOpen" descr="LuFolderOpe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3092" y="1875800"/>
            <a:ext cx="317480" cy="31748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17320" y="1691640"/>
            <a:ext cx="4343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/workspace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это practice/agent: рабочая папка агента, всё созданное остаётся у вас на диске</a:t>
            </a:r>
            <a:endParaRPr lang="en-US" sz="1500" dirty="0"/>
          </a:p>
        </p:txBody>
      </p:sp>
      <p:sp>
        <p:nvSpPr>
          <p:cNvPr id="8" name="card"/>
          <p:cNvSpPr/>
          <p:nvPr/>
        </p:nvSpPr>
        <p:spPr>
          <a:xfrm>
            <a:off x="457200" y="2606040"/>
            <a:ext cx="5486400" cy="868680"/>
          </a:xfrm>
          <a:prstGeom prst="roundRect">
            <a:avLst>
              <a:gd name="adj" fmla="val 12632"/>
            </a:avLst>
          </a:prstGeom>
          <a:solidFill>
            <a:schemeClr val="accent1">
              <a:alpha val="10000"/>
            </a:schemeClr>
          </a:solidFill>
          <a:ln w="12700">
            <a:solidFill>
              <a:schemeClr val="accent1">
                <a:alpha val="45000"/>
              </a:schemeClr>
            </a:solidFill>
            <a:prstDash val="solid"/>
          </a:ln>
        </p:spPr>
      </p:sp>
      <p:sp>
        <p:nvSpPr>
          <p:cNvPr id="9" name="icon circle"/>
          <p:cNvSpPr/>
          <p:nvPr/>
        </p:nvSpPr>
        <p:spPr>
          <a:xfrm>
            <a:off x="658368" y="2756916"/>
            <a:ext cx="566928" cy="5669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icon LuFolderLock" descr="LuFolderLo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3092" y="2881640"/>
            <a:ext cx="317480" cy="31748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417320" y="2697480"/>
            <a:ext cx="4343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/opt/todo-mcp, только чтение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это practice/mcp: агент запускает сервер, но не может его изменить</a:t>
            </a:r>
            <a:endParaRPr lang="en-US" sz="1500" dirty="0"/>
          </a:p>
        </p:txBody>
      </p:sp>
      <p:sp>
        <p:nvSpPr>
          <p:cNvPr id="12" name="card"/>
          <p:cNvSpPr/>
          <p:nvPr/>
        </p:nvSpPr>
        <p:spPr>
          <a:xfrm>
            <a:off x="457200" y="3611880"/>
            <a:ext cx="5486400" cy="868680"/>
          </a:xfrm>
          <a:prstGeom prst="roundRect">
            <a:avLst>
              <a:gd name="adj" fmla="val 12632"/>
            </a:avLst>
          </a:prstGeom>
          <a:solidFill>
            <a:schemeClr val="accent2">
              <a:alpha val="10000"/>
            </a:schemeClr>
          </a:solidFill>
          <a:ln w="12700">
            <a:solidFill>
              <a:schemeClr val="accent2">
                <a:alpha val="45000"/>
              </a:schemeClr>
            </a:solidFill>
            <a:prstDash val="solid"/>
          </a:ln>
        </p:spPr>
      </p:sp>
      <p:sp>
        <p:nvSpPr>
          <p:cNvPr id="13" name="icon circle"/>
          <p:cNvSpPr/>
          <p:nvPr/>
        </p:nvSpPr>
        <p:spPr>
          <a:xfrm>
            <a:off x="658368" y="3762756"/>
            <a:ext cx="566928" cy="56692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4" name="icon LuGlobe" descr="LuGlob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3092" y="3887480"/>
            <a:ext cx="317480" cy="31748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417320" y="3703320"/>
            <a:ext cx="4343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host.docker.internal:5000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приложение работает на хосте как обычно, контейнер ходит к нему по этому адресу</a:t>
            </a:r>
            <a:endParaRPr lang="en-US" sz="1500" dirty="0"/>
          </a:p>
        </p:txBody>
      </p:sp>
      <p:sp>
        <p:nvSpPr>
          <p:cNvPr id="16" name="card"/>
          <p:cNvSpPr/>
          <p:nvPr/>
        </p:nvSpPr>
        <p:spPr>
          <a:xfrm>
            <a:off x="457200" y="4617720"/>
            <a:ext cx="5486400" cy="868680"/>
          </a:xfrm>
          <a:prstGeom prst="roundRect">
            <a:avLst>
              <a:gd name="adj" fmla="val 12632"/>
            </a:avLst>
          </a:prstGeom>
          <a:solidFill>
            <a:schemeClr val="accent5">
              <a:alpha val="10000"/>
            </a:schemeClr>
          </a:solidFill>
          <a:ln w="12700">
            <a:solidFill>
              <a:schemeClr val="accent5">
                <a:alpha val="45000"/>
              </a:schemeClr>
            </a:solidFill>
            <a:prstDash val="solid"/>
          </a:ln>
        </p:spPr>
      </p:sp>
      <p:sp>
        <p:nvSpPr>
          <p:cNvPr id="17" name="icon circle"/>
          <p:cNvSpPr/>
          <p:nvPr/>
        </p:nvSpPr>
        <p:spPr>
          <a:xfrm>
            <a:off x="658368" y="4768596"/>
            <a:ext cx="566928" cy="56692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18" name="icon LuEyeOff" descr="LuEyeOff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3092" y="4893320"/>
            <a:ext cx="317480" cy="31748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1417320" y="4709160"/>
            <a:ext cx="4343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Чего в контейнере нет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todo_db.json, ~/.todo_demo/secret.key, ваш $HOME и остальной диск</a:t>
            </a:r>
            <a:endParaRPr lang="en-US" sz="1500" dirty="0"/>
          </a:p>
        </p:txBody>
      </p:sp>
      <p:sp>
        <p:nvSpPr>
          <p:cNvPr id="20" name="code"/>
          <p:cNvSpPr txBox="1"/>
          <p:nvPr/>
        </p:nvSpPr>
        <p:spPr>
          <a:xfrm>
            <a:off x="6263640" y="1600200"/>
            <a:ext cx="5468112" cy="2697480"/>
          </a:xfrm>
          <a:prstGeom prst="roundRect">
            <a:avLst>
              <a:gd name="adj" fmla="val 3390"/>
            </a:avLst>
          </a:prstGeom>
          <a:solidFill>
            <a:srgbClr val="22375A"/>
          </a:solidFill>
          <a:ln w="12700">
            <a:solidFill>
              <a:srgbClr val="22375A"/>
            </a:solidFill>
          </a:ln>
        </p:spPr>
        <p:txBody>
          <a:bodyPr wrap="square" lIns="152400" tIns="177800" rIns="177800" bIns="15240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MODEL_API_KEY=...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run --rm -it \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-v "$PWD/practice/agent:/workspace" \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-v "$PWD/practice/mcp:/opt/todo-mcp:ro" \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-v "$PWD/practice/agent/.qwen/\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settings.docker.json:\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/workspace/.qwen/settings.json:ro" \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-e MODEL_API_KEY \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qwen-agent</a:t>
            </a:r>
            <a:endParaRPr lang="en-US" sz="1200" dirty="0"/>
          </a:p>
        </p:txBody>
      </p:sp>
      <p:sp>
        <p:nvSpPr>
          <p:cNvPr id="21" name="card"/>
          <p:cNvSpPr/>
          <p:nvPr/>
        </p:nvSpPr>
        <p:spPr>
          <a:xfrm>
            <a:off x="6263640" y="4434840"/>
            <a:ext cx="5468112" cy="1051560"/>
          </a:xfrm>
          <a:prstGeom prst="roundRect">
            <a:avLst>
              <a:gd name="adj" fmla="val 10435"/>
            </a:avLst>
          </a:prstGeom>
          <a:solidFill>
            <a:schemeClr val="accent6">
              <a:alpha val="10000"/>
            </a:schemeClr>
          </a:solidFill>
          <a:ln w="12700">
            <a:solidFill>
              <a:schemeClr val="accent6">
                <a:alpha val="45000"/>
              </a:schemeClr>
            </a:solidFill>
            <a:prstDash val="solid"/>
          </a:ln>
        </p:spPr>
      </p:sp>
      <p:sp>
        <p:nvSpPr>
          <p:cNvPr id="22" name="number"/>
          <p:cNvSpPr/>
          <p:nvPr/>
        </p:nvSpPr>
        <p:spPr>
          <a:xfrm>
            <a:off x="6464808" y="4677156"/>
            <a:ext cx="566928" cy="566928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5.4</a:t>
            </a:r>
            <a:endParaRPr lang="en-US" sz="1300" dirty="0"/>
          </a:p>
        </p:txBody>
      </p:sp>
      <p:sp>
        <p:nvSpPr>
          <p:cNvPr id="23" name="Text 17"/>
          <p:cNvSpPr txBox="1"/>
          <p:nvPr/>
        </p:nvSpPr>
        <p:spPr>
          <a:xfrm>
            <a:off x="7223760" y="4544568"/>
            <a:ext cx="4325112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Проверьте, что видит агент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ls /Users, cat ~/.todo_demo/secret.key, cat todo_db.json — пусто. /mcp и «покажи задачи» работают как обычно</a:t>
            </a:r>
            <a:endParaRPr lang="en-US" sz="1500" dirty="0"/>
          </a:p>
        </p:txBody>
      </p:sp>
      <p:sp>
        <p:nvSpPr>
          <p:cNvPr id="24" name="takeaway"/>
          <p:cNvSpPr/>
          <p:nvPr/>
        </p:nvSpPr>
        <p:spPr>
          <a:xfrm>
            <a:off x="457200" y="5760720"/>
            <a:ext cx="11274552" cy="658368"/>
          </a:xfrm>
          <a:prstGeom prst="roundRect">
            <a:avLst>
              <a:gd name="adj" fmla="val 16667"/>
            </a:avLst>
          </a:prstGeom>
          <a:solidFill>
            <a:schemeClr val="accent6">
              <a:alpha val="10000"/>
            </a:schemeClr>
          </a:solidFill>
          <a:ln w="12700">
            <a:solidFill>
              <a:schemeClr val="accent6">
                <a:alpha val="45000"/>
              </a:schemeClr>
            </a:solidFill>
            <a:prstDash val="solid"/>
          </a:ln>
        </p:spPr>
      </p:sp>
      <p:pic>
        <p:nvPicPr>
          <p:cNvPr id="25" name="icon target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5888736"/>
            <a:ext cx="402336" cy="402336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1280160" y="5815584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Агента можно запускать в изолированном окружении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Сеть из контейнера по умолчанию открыта (модель тоже доступна через сеть), её ограничивают отдельно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922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31520" y="182880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6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6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31520" y="301752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Автоматизация в n8n</a:t>
            </a:r>
            <a:endParaRPr lang="en-US" sz="3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731520" y="402336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bg1"/>
                </a:solidFill>
              </a:rPr>
              <a:t>Когда шаги известны заранее, нужен workflow, а не агент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922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BD5E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Автоматизация в n8n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896112"/>
            <a:ext cx="11274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Open-source платформа: процесс собирают из блоков, когда шаги известны заранее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600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Как строить воркфлоу</a:t>
            </a:r>
            <a:endParaRPr lang="en-US" sz="1800" dirty="0"/>
          </a:p>
        </p:txBody>
      </p:sp>
      <p:sp>
        <p:nvSpPr>
          <p:cNvPr id="5" name="card"/>
          <p:cNvSpPr/>
          <p:nvPr/>
        </p:nvSpPr>
        <p:spPr>
          <a:xfrm>
            <a:off x="457200" y="2011680"/>
            <a:ext cx="5486400" cy="777240"/>
          </a:xfrm>
          <a:prstGeom prst="roundRect">
            <a:avLst>
              <a:gd name="adj" fmla="val 14118"/>
            </a:avLst>
          </a:prstGeom>
          <a:solidFill>
            <a:schemeClr val="accent1">
              <a:alpha val="10000"/>
            </a:schemeClr>
          </a:solidFill>
          <a:ln w="12700">
            <a:solidFill>
              <a:schemeClr val="accent1">
                <a:alpha val="45000"/>
              </a:schemeClr>
            </a:solidFill>
            <a:prstDash val="solid"/>
          </a:ln>
        </p:spPr>
      </p:sp>
      <p:sp>
        <p:nvSpPr>
          <p:cNvPr id="6" name="icon circle"/>
          <p:cNvSpPr/>
          <p:nvPr/>
        </p:nvSpPr>
        <p:spPr>
          <a:xfrm>
            <a:off x="658368" y="2116836"/>
            <a:ext cx="566928" cy="5669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7" name="icon LuZap" descr="LuZap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3092" y="2241560"/>
            <a:ext cx="317480" cy="31748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417320" y="2103120"/>
            <a:ext cx="4343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Триггер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запускает процесс: вебхук, форма, расписание, письмо</a:t>
            </a:r>
            <a:endParaRPr lang="en-US" sz="1500" dirty="0"/>
          </a:p>
        </p:txBody>
      </p:sp>
      <p:sp>
        <p:nvSpPr>
          <p:cNvPr id="9" name="card"/>
          <p:cNvSpPr/>
          <p:nvPr/>
        </p:nvSpPr>
        <p:spPr>
          <a:xfrm>
            <a:off x="457200" y="2862072"/>
            <a:ext cx="5486400" cy="777240"/>
          </a:xfrm>
          <a:prstGeom prst="roundRect">
            <a:avLst>
              <a:gd name="adj" fmla="val 14118"/>
            </a:avLst>
          </a:prstGeom>
          <a:solidFill>
            <a:schemeClr val="accent3">
              <a:alpha val="10000"/>
            </a:schemeClr>
          </a:solidFill>
          <a:ln w="12700">
            <a:solidFill>
              <a:schemeClr val="accent3">
                <a:alpha val="45000"/>
              </a:schemeClr>
            </a:solidFill>
            <a:prstDash val="solid"/>
          </a:ln>
        </p:spPr>
      </p:sp>
      <p:sp>
        <p:nvSpPr>
          <p:cNvPr id="10" name="icon circle"/>
          <p:cNvSpPr/>
          <p:nvPr/>
        </p:nvSpPr>
        <p:spPr>
          <a:xfrm>
            <a:off x="658368" y="2967228"/>
            <a:ext cx="566928" cy="56692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1" name="icon LuWorkflow" descr="LuWorkflow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3092" y="3091952"/>
            <a:ext cx="317480" cy="31748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417320" y="2953512"/>
            <a:ext cx="4343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Ноды-действия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HTTP, запись в таблицу, отправка сообщения, вызов LLM; данные текут от ноды к ноде</a:t>
            </a:r>
            <a:endParaRPr lang="en-US" sz="1500" dirty="0"/>
          </a:p>
        </p:txBody>
      </p:sp>
      <p:sp>
        <p:nvSpPr>
          <p:cNvPr id="13" name="card"/>
          <p:cNvSpPr/>
          <p:nvPr/>
        </p:nvSpPr>
        <p:spPr>
          <a:xfrm>
            <a:off x="457200" y="3712464"/>
            <a:ext cx="5486400" cy="777240"/>
          </a:xfrm>
          <a:prstGeom prst="roundRect">
            <a:avLst>
              <a:gd name="adj" fmla="val 14118"/>
            </a:avLst>
          </a:prstGeom>
          <a:solidFill>
            <a:schemeClr val="accent2">
              <a:alpha val="10000"/>
            </a:schemeClr>
          </a:solidFill>
          <a:ln w="12700">
            <a:solidFill>
              <a:schemeClr val="accent2">
                <a:alpha val="45000"/>
              </a:schemeClr>
            </a:solidFill>
            <a:prstDash val="solid"/>
          </a:ln>
        </p:spPr>
      </p:sp>
      <p:sp>
        <p:nvSpPr>
          <p:cNvPr id="14" name="icon circle"/>
          <p:cNvSpPr/>
          <p:nvPr/>
        </p:nvSpPr>
        <p:spPr>
          <a:xfrm>
            <a:off x="658368" y="3817620"/>
            <a:ext cx="566928" cy="56692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5" name="icon LuGitBranch" descr="LuGitBranch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3092" y="3942344"/>
            <a:ext cx="317480" cy="31748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417320" y="3803904"/>
            <a:ext cx="4343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Ветвление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ноды IF и Switch по значениям из предыдущих нод</a:t>
            </a:r>
            <a:endParaRPr lang="en-US" sz="1500" dirty="0"/>
          </a:p>
        </p:txBody>
      </p:sp>
      <p:sp>
        <p:nvSpPr>
          <p:cNvPr id="17" name="card"/>
          <p:cNvSpPr/>
          <p:nvPr/>
        </p:nvSpPr>
        <p:spPr>
          <a:xfrm>
            <a:off x="457200" y="4562856"/>
            <a:ext cx="5486400" cy="777240"/>
          </a:xfrm>
          <a:prstGeom prst="roundRect">
            <a:avLst>
              <a:gd name="adj" fmla="val 14118"/>
            </a:avLst>
          </a:prstGeom>
          <a:solidFill>
            <a:schemeClr val="accent4">
              <a:alpha val="10000"/>
            </a:schemeClr>
          </a:solidFill>
          <a:ln w="12700">
            <a:solidFill>
              <a:schemeClr val="accent4">
                <a:alpha val="45000"/>
              </a:schemeClr>
            </a:solidFill>
            <a:prstDash val="solid"/>
          </a:ln>
        </p:spPr>
      </p:sp>
      <p:sp>
        <p:nvSpPr>
          <p:cNvPr id="18" name="icon circle"/>
          <p:cNvSpPr/>
          <p:nvPr/>
        </p:nvSpPr>
        <p:spPr>
          <a:xfrm>
            <a:off x="658368" y="4668012"/>
            <a:ext cx="566928" cy="56692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19" name="icon LuPlay" descr="LuPlay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3092" y="4792736"/>
            <a:ext cx="317480" cy="317480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1417320" y="4654296"/>
            <a:ext cx="4343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Отладка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кнопка Execute: прогнать воркфлоу или ноду, посмотреть вход/выход</a:t>
            </a:r>
            <a:endParaRPr lang="en-US" sz="1500" dirty="0"/>
          </a:p>
        </p:txBody>
      </p:sp>
      <p:sp>
        <p:nvSpPr>
          <p:cNvPr id="21" name="Text 15"/>
          <p:cNvSpPr txBox="1"/>
          <p:nvPr/>
        </p:nvSpPr>
        <p:spPr>
          <a:xfrm>
            <a:off x="6263640" y="1600200"/>
            <a:ext cx="5468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Где хранить секреты</a:t>
            </a:r>
            <a:endParaRPr lang="en-US" sz="1800" dirty="0"/>
          </a:p>
        </p:txBody>
      </p:sp>
      <p:sp>
        <p:nvSpPr>
          <p:cNvPr id="22" name="card"/>
          <p:cNvSpPr/>
          <p:nvPr/>
        </p:nvSpPr>
        <p:spPr>
          <a:xfrm>
            <a:off x="6263640" y="2011680"/>
            <a:ext cx="5468112" cy="2103120"/>
          </a:xfrm>
          <a:prstGeom prst="roundRect">
            <a:avLst>
              <a:gd name="adj" fmla="val 5217"/>
            </a:avLst>
          </a:prstGeom>
          <a:solidFill>
            <a:schemeClr val="accent5">
              <a:alpha val="10000"/>
            </a:schemeClr>
          </a:solidFill>
          <a:ln w="12700">
            <a:solidFill>
              <a:schemeClr val="accent5">
                <a:alpha val="45000"/>
              </a:schemeClr>
            </a:solidFill>
            <a:prstDash val="solid"/>
          </a:ln>
        </p:spPr>
      </p:sp>
      <p:sp>
        <p:nvSpPr>
          <p:cNvPr id="23" name="icon circle"/>
          <p:cNvSpPr/>
          <p:nvPr/>
        </p:nvSpPr>
        <p:spPr>
          <a:xfrm>
            <a:off x="6492240" y="2286000"/>
            <a:ext cx="658368" cy="65836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24" name="icon LuKeyRound" descr="LuKeyRound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37081" y="2430841"/>
            <a:ext cx="368686" cy="368686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7315200" y="2240280"/>
            <a:ext cx="42062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Ключи и токены — только в разделе Credentials, не в параметрах нод</a:t>
            </a:r>
            <a:endParaRPr lang="en-US" sz="14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Нода ссылается на Credentials по имени; при экспорте в JSON секреты в файл не попадают</a:t>
            </a:r>
            <a:endParaRPr lang="en-US" sz="1400" dirty="0"/>
          </a:p>
        </p:txBody>
      </p:sp>
      <p:sp>
        <p:nvSpPr>
          <p:cNvPr id="26" name="card"/>
          <p:cNvSpPr/>
          <p:nvPr/>
        </p:nvSpPr>
        <p:spPr>
          <a:xfrm>
            <a:off x="6263640" y="4297680"/>
            <a:ext cx="5468112" cy="1188720"/>
          </a:xfrm>
          <a:prstGeom prst="roundRect">
            <a:avLst>
              <a:gd name="adj" fmla="val 9231"/>
            </a:avLst>
          </a:prstGeom>
          <a:solidFill>
            <a:schemeClr val="accent2">
              <a:alpha val="10000"/>
            </a:schemeClr>
          </a:solidFill>
          <a:ln w="12700">
            <a:solidFill>
              <a:schemeClr val="accent2">
                <a:alpha val="45000"/>
              </a:schemeClr>
            </a:solidFill>
            <a:prstDash val="solid"/>
          </a:ln>
        </p:spPr>
      </p:sp>
      <p:sp>
        <p:nvSpPr>
          <p:cNvPr id="27" name="icon circle"/>
          <p:cNvSpPr/>
          <p:nvPr/>
        </p:nvSpPr>
        <p:spPr>
          <a:xfrm>
            <a:off x="6492240" y="461772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8" name="icon LuWorkflow" descr="LuWorkflow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12941" y="4738421"/>
            <a:ext cx="307238" cy="307238"/>
          </a:xfrm>
          <a:prstGeom prst="rect">
            <a:avLst/>
          </a:prstGeom>
        </p:spPr>
      </p:pic>
      <p:sp>
        <p:nvSpPr>
          <p:cNvPr id="29" name="Text 21"/>
          <p:cNvSpPr txBox="1"/>
          <p:nvPr/>
        </p:nvSpPr>
        <p:spPr>
          <a:xfrm>
            <a:off x="7269480" y="4297680"/>
            <a:ext cx="4251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Официальный сайт:  </a:t>
            </a:r>
            <a:pPr indent="0" marL="0">
              <a:buNone/>
            </a:pPr>
            <a:r>
              <a:rPr lang="en-US" sz="1700" b="1" u="sng" dirty="0">
                <a:solidFill>
                  <a:schemeClr val="accent1"/>
                </a:solidFill>
                <a:hlinkClick r:id="rId7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n8n.io</a:t>
            </a:r>
            <a:endParaRPr lang="en-US" sz="1700" dirty="0"/>
          </a:p>
        </p:txBody>
      </p:sp>
      <p:sp>
        <p:nvSpPr>
          <p:cNvPr id="30" name="takeaway"/>
          <p:cNvSpPr/>
          <p:nvPr/>
        </p:nvSpPr>
        <p:spPr>
          <a:xfrm>
            <a:off x="457200" y="5760720"/>
            <a:ext cx="11274552" cy="658368"/>
          </a:xfrm>
          <a:prstGeom prst="roundRect">
            <a:avLst>
              <a:gd name="adj" fmla="val 16667"/>
            </a:avLst>
          </a:prstGeom>
          <a:solidFill>
            <a:schemeClr val="accent5">
              <a:alpha val="10000"/>
            </a:schemeClr>
          </a:solidFill>
          <a:ln w="12700">
            <a:solidFill>
              <a:schemeClr val="accent5">
                <a:alpha val="45000"/>
              </a:schemeClr>
            </a:solidFill>
            <a:prstDash val="solid"/>
          </a:ln>
        </p:spPr>
      </p:sp>
      <p:pic>
        <p:nvPicPr>
          <p:cNvPr id="31" name="icon target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5800" y="5888736"/>
            <a:ext cx="402336" cy="402336"/>
          </a:xfrm>
          <a:prstGeom prst="rect">
            <a:avLst/>
          </a:prstGeom>
        </p:spPr>
      </p:pic>
      <p:sp>
        <p:nvSpPr>
          <p:cNvPr id="32" name="Text 23"/>
          <p:cNvSpPr txBox="1"/>
          <p:nvPr/>
        </p:nvSpPr>
        <p:spPr>
          <a:xfrm>
            <a:off x="1280160" y="5815584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Если ключ виден в параметрах ноды или в экспортированном JSON — это ошибка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Шаги известны заранее → workflow (n8n); не известны → агент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922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Тесты и отладка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896112"/>
            <a:ext cx="11274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Если что-то не работает, начните отсюда</a:t>
            </a:r>
            <a:endParaRPr lang="en-US" sz="1600" dirty="0"/>
          </a:p>
        </p:txBody>
      </p:sp>
      <p:sp>
        <p:nvSpPr>
          <p:cNvPr id="4" name="code"/>
          <p:cNvSpPr txBox="1"/>
          <p:nvPr/>
        </p:nvSpPr>
        <p:spPr>
          <a:xfrm>
            <a:off x="457200" y="1600200"/>
            <a:ext cx="4206240" cy="3840480"/>
          </a:xfrm>
          <a:prstGeom prst="roundRect">
            <a:avLst>
              <a:gd name="adj" fmla="val 2381"/>
            </a:avLst>
          </a:prstGeom>
          <a:solidFill>
            <a:srgbClr val="22375A"/>
          </a:solidFill>
          <a:ln w="12700">
            <a:solidFill>
              <a:srgbClr val="22375A"/>
            </a:solidFill>
          </a:ln>
        </p:spPr>
        <p:txBody>
          <a:bodyPr wrap="square" lIns="152400" tIns="177800" rIns="177800" bIns="15240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тесты приложения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apps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-m unittest discover \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-s todo/tests -t .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тесты MCP-сервера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-m unittest discover \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-s practice/mcp \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-p test_server.py \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-t practice/mcp</a:t>
            </a:r>
            <a:endParaRPr lang="en-US" sz="13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937760" y="1600200"/>
          <a:ext cx="6793992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4050792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Симптом</a:t>
                      </a:r>
                      <a:endParaRPr lang="en-US" sz="14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Что проверить</a:t>
                      </a:r>
                      <a:endParaRPr lang="en-US" sz="14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</a:rPr>
                        <a:t>spawn ... ENOENT</a:t>
                      </a:r>
                      <a:endParaRPr lang="en-US" sz="1400" dirty="0"/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</a:rPr>
                        <a:t>абсолютные пути в command и args</a:t>
                      </a:r>
                      <a:endParaRPr lang="en-US" sz="1400" dirty="0"/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</a:rPr>
                        <a:t>TODO-приложение недоступно</a:t>
                      </a:r>
                      <a:endParaRPr lang="en-US" sz="1400" dirty="0"/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</a:rPr>
                        <a:t>приложение запущено, порт = TODO_API_URL</a:t>
                      </a:r>
                      <a:endParaRPr lang="en-US" sz="1400" dirty="0"/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</a:rPr>
                        <a:t>Disconnected в /mcp</a:t>
                      </a:r>
                      <a:endParaRPr lang="en-US" sz="1400" dirty="0"/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</a:rPr>
                        <a:t>пути верные, import mcp работает</a:t>
                      </a:r>
                      <a:endParaRPr lang="en-US" sz="1400" dirty="0"/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</a:rPr>
                        <a:t>Pending approval</a:t>
                      </a:r>
                      <a:endParaRPr lang="en-US" sz="1400" dirty="0"/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</a:rPr>
                        <a:t>подтвердите доверие в интерактивном qwen</a:t>
                      </a:r>
                      <a:endParaRPr lang="en-US" sz="1400" dirty="0"/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</a:rPr>
                        <a:t>правки server.py не видны</a:t>
                      </a:r>
                      <a:endParaRPr lang="en-US" sz="1400" dirty="0"/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</a:rPr>
                        <a:t>перезапустите qwen</a:t>
                      </a:r>
                      <a:endParaRPr lang="en-US" sz="1400" dirty="0"/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</a:rPr>
                        <a:t>причина непонятна</a:t>
                      </a:r>
                      <a:endParaRPr lang="en-US" sz="1400" dirty="0"/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</a:rPr>
                        <a:t>TODO_MCP_LOG=/tmp/todo_mcp.log; print нельзя</a:t>
                      </a:r>
                      <a:endParaRPr lang="en-US" sz="1400" dirty="0"/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A"/>
                    </a:solidFill>
                  </a:tcPr>
                </a:tc>
              </a:tr>
            </a:tbl>
          </a:graphicData>
        </a:graphic>
      </p:graphicFrame>
      <p:sp>
        <p:nvSpPr>
          <p:cNvPr id="6" name="takeaway"/>
          <p:cNvSpPr/>
          <p:nvPr/>
        </p:nvSpPr>
        <p:spPr>
          <a:xfrm>
            <a:off x="457200" y="5760720"/>
            <a:ext cx="11274552" cy="658368"/>
          </a:xfrm>
          <a:prstGeom prst="roundRect">
            <a:avLst>
              <a:gd name="adj" fmla="val 16667"/>
            </a:avLst>
          </a:prstGeom>
          <a:solidFill>
            <a:schemeClr val="accent2">
              <a:alpha val="10000"/>
            </a:schemeClr>
          </a:solidFill>
          <a:ln w="12700">
            <a:solidFill>
              <a:schemeClr val="accent2">
                <a:alpha val="45000"/>
              </a:schemeClr>
            </a:solidFill>
            <a:prstDash val="solid"/>
          </a:ln>
        </p:spPr>
      </p:sp>
      <p:pic>
        <p:nvPicPr>
          <p:cNvPr id="7" name="icon target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5888736"/>
            <a:ext cx="402336" cy="402336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280160" y="5815584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stdout занят протоколом MCP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Поэтому сервер пишет логи в stderr и в файл из TODO_MCP_LOG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922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731520" y="301752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Итоги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4023360"/>
            <a:ext cx="105156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2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  </a:t>
            </a:r>
            <a:pPr indent="0" marL="0">
              <a:spcAft>
                <a:spcPts val="1000"/>
              </a:spcAft>
              <a:buNone/>
            </a:pPr>
            <a:r>
              <a:rPr lang="en-US" sz="2000" dirty="0">
                <a:solidFill>
                  <a:schemeClr val="bg1"/>
                </a:solidFill>
              </a:rPr>
              <a:t>Без доступа агент беспомощен, с адресом — ходит куда угодно через curl</a:t>
            </a:r>
            <a:endParaRPr lang="en-US" sz="2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  </a:t>
            </a:r>
            <a:pPr indent="0" marL="0">
              <a:spcAft>
                <a:spcPts val="1000"/>
              </a:spcAft>
              <a:buNone/>
            </a:pPr>
            <a:r>
              <a:rPr lang="en-US" sz="2000" dirty="0">
                <a:solidFill>
                  <a:schemeClr val="bg1"/>
                </a:solidFill>
              </a:rPr>
              <a:t>Hook — гарантия от Qwen, MCP — узкий набор действий с контрактом</a:t>
            </a:r>
            <a:endParaRPr lang="en-US" sz="2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  </a:t>
            </a:r>
            <a:pPr indent="0" marL="0">
              <a:spcAft>
                <a:spcPts val="1000"/>
              </a:spcAft>
              <a:buNone/>
            </a:pPr>
            <a:r>
              <a:rPr lang="en-US" sz="2000" dirty="0">
                <a:solidFill>
                  <a:schemeClr val="bg1"/>
                </a:solidFill>
              </a:rPr>
              <a:t>Tool — интерфейс для модели: фильтры и даты считает код</a:t>
            </a:r>
            <a:endParaRPr lang="en-US" sz="2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  </a:t>
            </a:r>
            <a:pPr indent="0" marL="0">
              <a:spcAft>
                <a:spcPts val="1000"/>
              </a:spcAft>
              <a:buNone/>
            </a:pPr>
            <a:r>
              <a:rPr lang="en-US" sz="2000" dirty="0">
                <a:solidFill>
                  <a:schemeClr val="bg1"/>
                </a:solidFill>
              </a:rPr>
              <a:t>Tool выбирает модель, prompt — пользователь, resource кладёт host</a:t>
            </a:r>
            <a:endParaRPr lang="en-US" sz="2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  </a:t>
            </a:r>
            <a:pPr indent="0" marL="0">
              <a:spcAft>
                <a:spcPts val="1000"/>
              </a:spcAft>
              <a:buNone/>
            </a:pPr>
            <a:r>
              <a:rPr lang="en-US" sz="2000" dirty="0">
                <a:solidFill>
                  <a:schemeClr val="bg1"/>
                </a:solidFill>
              </a:rPr>
              <a:t>Агента можно запускать в изолированном окружении</a:t>
            </a:r>
            <a:endParaRPr lang="en-US" sz="2000" dirty="0"/>
          </a:p>
        </p:txBody>
      </p:sp>
      <p:sp>
        <p:nvSpPr>
          <p:cNvPr id="5" name="Text 0"/>
          <p:cNvSpPr/>
          <p:nvPr>
            <p:ph idx="100" type="body" hasCustomPrompt="1"/>
          </p:nvPr>
        </p:nvSpPr>
        <p:spPr>
          <a:xfrm>
            <a:off x="731520" y="182880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endParaRPr lang="en-US" sz="6000" dirty="0"/>
          </a:p>
        </p:txBody>
      </p:sp>
      <p:sp>
        <p:nvSpPr>
          <p:cNvPr id="6" name="Text 0"/>
          <p:cNvSpPr/>
          <p:nvPr>
            <p:ph idx="102" type="body" hasCustomPrompt="1"/>
          </p:nvPr>
        </p:nvSpPr>
        <p:spPr>
          <a:xfrm>
            <a:off x="731520" y="402336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922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BD5E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IDD Lecture">
  <a:themeElements>
    <a:clrScheme name="AIDD Lecture">
      <a:dk1>
        <a:srgbClr val="1F2937"/>
      </a:dk1>
      <a:lt1>
        <a:srgbClr val="FFFFFF"/>
      </a:lt1>
      <a:dk2>
        <a:srgbClr val="1B2A4A"/>
      </a:dk2>
      <a:lt2>
        <a:srgbClr val="F1F5FA"/>
      </a:lt2>
      <a:accent1>
        <a:srgbClr val="2F6FDE"/>
      </a:accent1>
      <a:accent2>
        <a:srgbClr val="E07A2E"/>
      </a:accent2>
      <a:accent3>
        <a:srgbClr val="2E9E5B"/>
      </a:accent3>
      <a:accent4>
        <a:srgbClr val="7B5CC4"/>
      </a:accent4>
      <a:accent5>
        <a:srgbClr val="C0392B"/>
      </a:accent5>
      <a:accent6>
        <a:srgbClr val="0E9AA7"/>
      </a:accent6>
      <a:hlink>
        <a:srgbClr val="2F6FDE"/>
      </a:hlink>
      <a:folHlink>
        <a:srgbClr val="7B5CC4"/>
      </a:folHlink>
    </a:clrScheme>
    <a:fontScheme name="AIDD Lectur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Практика: MCP, Tools и Skills</dc:title>
  <dc:subject>PptxGenJS Presentation</dc:subject>
  <dc:creator>AIDD</dc:creator>
  <cp:lastModifiedBy>AIDD</cp:lastModifiedBy>
  <cp:revision>1</cp:revision>
  <dcterms:created xsi:type="dcterms:W3CDTF">2026-10-23T22:52:46Z</dcterms:created>
  <dcterms:modified xsi:type="dcterms:W3CDTF">2026-10-23T22:52:46Z</dcterms:modified>
</cp:coreProperties>
</file>