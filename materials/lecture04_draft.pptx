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a3434cf5-0b6f-e206-bca1-7fc45f9722e7}">
          <p14:sldIdLst>
            <p14:sldId id="256"/>
            <p14:sldId id="257"/>
            <p14:sldId id="258"/>
            <p14:sldId id="259"/>
          </p14:sldIdLst>
        </p14:section>
        <p14:section name="Tools" id="{ac1779a9-6fa7-a743-567e-104bf067ed1f}">
          <p14:sldIdLst>
            <p14:sldId id="260"/>
            <p14:sldId id="261"/>
            <p14:sldId id="262"/>
            <p14:sldId id="263"/>
          </p14:sldIdLst>
        </p14:section>
        <p14:section name="MCP" id="{b9c738da-a914-d73d-89c5-a0a359801f93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MCP в реальности" id="{f614874d-b96d-3b20-6065-5159b3126885}">
          <p14:sldIdLst>
            <p14:sldId id="284"/>
            <p14:sldId id="285"/>
            <p14:sldId id="286"/>
            <p14:sldId id="287"/>
            <p14:sldId id="288"/>
          </p14:sldIdLst>
        </p14:section>
        <p14:section name="Skills" id="{76dca70a-12bd-e3eb-1a90-72c2511d54ce}">
          <p14:sldIdLst>
            <p14:sldId id="289"/>
            <p14:sldId id="290"/>
            <p14:sldId id="291"/>
            <p14:sldId id="292"/>
            <p14:sldId id="293"/>
          </p14:sldIdLst>
        </p14:section>
        <p14:section name="Интеграция" id="{be27e249-69f8-76c7-4a73-f9a6d5f031b5}">
          <p14:sldIdLst>
            <p14:sldId id="294"/>
            <p14:sldId id="295"/>
            <p14:sldId id="296"/>
            <p14:sldId id="297"/>
            <p14:sldId id="298"/>
          </p14:sldIdLst>
        </p14:section>
        <p14:section name="AI-автоматизация" id="{bbb8ac13-14e4-d127-169a-b7da79ef6b97}">
          <p14:sldIdLst>
            <p14:sldId id="299"/>
            <p14:sldId id="300"/>
            <p14:sldId id="301"/>
            <p14:sldId id="302"/>
            <p14:sldId id="303"/>
          </p14:sldIdLst>
        </p14:section>
        <p14:section name="Итоги" id="{f6a27fb2-55cc-fcda-9d2c-1e73f4ff15c0}">
          <p14:sldIdLst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Тема 4 из 8. Связь с прошлыми занятиями: там агент работал с кодом, терминалом и git внутри репозитория. Сегодня подключаем к нему внешний мир: трекеры, базы, браузер, документацию, CI и корпоративные системы, а также автоматизируем процессы без агента там, где нужен предсказуемый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блоков, около 90 минут. Сквозной пример остаётся тем же, что на прошлых занятиях: ToDo-приложение. В конце будет анонс практики и ДЗ: практика на Django ToDo, ДЗ на Investing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аудитории: какие данные нужны агенту, чтобы закрыть задачу из трекера целиком? Обычно называют: саму задачу, логи, БД, макет, документацию. Отсюда переход: каждую такую систему надо как-то подключить.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коннекторов против 8. Аналогия: LSP сделал то же самое для IDE и языков, MCP во многом вдохновлён LSP. На практике это значит, что MCP-сервер GitHub работает и в Claude Code, и в OpenCode, и в VS Code без переписывания.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Слайд-вопрос: дать аудитории 1–2 минуты порассуждать, ответы не показывать. Типичные ошибки: «модель сама запускает код», «модель обращается к API». Ответ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function calling есть у всех современных моделей, в том числе у GigaChat. Важно: модель видит только описание и схему, а не код инструмента. Если описание плохое, модель вызовет инструмент неправильно или не вызовет вовсе. Вопросы студентов: как модель понимает, что надо вызвать инструмент? Модели дообучены на function calling: при наличии tools ответ может закончиться блоком вызова (у Anthropic stop_reason: tool_use); приложение может управлять этим через tool_choice. Неверные аргументы обвязка или сервер проверяет по JSON Schema и возвращает ошибку, модель исправляется на следующем шаге. Несколько инструментов за шаг тоже можно: параллельные вызовы.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прошлыми практиками: там студенты писали контракт add_task и тесты на пустую строку, пробелы, None. Здесь тот же контракт становится описанием инструмента. Сообщения об ошибках для модели должны быть такими же понятными, как сообщения для пользователя в прошлых практиках.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лекцией сверить актуальное: версию спецификации (на октябрь 2026 актуальна 2026-07-28) и список клиентов на modelcontextprotocol.io. Поддержку MCP в GigaCode CLI проверить отдельно. MCP можно использовать и без LLM: это обычный JSON-RPC, его вызывают из скриптов, тестов или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Частая путаница: «клиент» в MCP — это не пользователь и не программа, которую он запускает. Клиент — внутренняя часть host, по одному на сервер. Сервер — отдельная программа, которая может быть и локальной (stdio), и удалённой. Модель вообще не участвует в протоколе: она видит только список tools, который собрал host. Важно для безопасности: решение, давать ли модели вызвать инструмент, принимает host (например, Claude Code спрашивает разрешение). Сервер не знает, какая модель им пользуется.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https://modelcontextprotocol.io/specification/2026-07-28, разделы Architecture (Design Principles) и Security and Trust &amp; Safety. Первые четыре карточки — design principles из спецификации, пятая — свойство архитектуры версии 2026-07-28 (stateless), шестая — принципы безопасности (User Consent and Control, Data Privacy, Tool Safety). Куда движется протокол, если спросят: без состояния (убраны initialize и сессии), ядро сжимается (Tasks и MCP Apps вынесены в расширения), клиент проще (sampling, roots и logging помечены deprecated), авторизация строже. Вопрос студентов: как жить без сессий, если нужно состояние? Сервер сам создаёт идентификатор (handle) и возвращает его в результате, модель передаёт его в следующие вызовы обычным аргументом.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Частый вопрос студентов: зачем MCP, если у моделей есть function calling. Ответ: это разные уровни. Function calling — контракт между моделью и приложением, MCP — между приложением и внешними сервисами. Один и тот же MCP-сервер работает с моделями разных провайдеров, потому что host сам переводит инструменты в формат своего провайдера.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управляются моделью, resources управляются приложением (пользователь или host выбирает, что положить в контекст), prompts вызываются пользователем явно, обычно как slash-команды. В версии 2026-07-28 sampling и roots помечены deprecated, а все запросы от сервера к клиенту идут через Multi Round-Trip Requests. Поддержка клиентских возможностей различается между клиентами: проверить по таблице клиентов на сайте MCP. Чем resource отличается от tool, который возвращает данные: tool вызывает модель по своему решению, resource выбирает приложение или пользователь (например, упоминание @ в Claude Code), и он попадает в контекст без шага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управляются моделью: она сама решает, когда и с какими аргументами вызвать инструмент. annotations (readOnlyHint, destructiveHint, idempotentHint, openWorldHint) — только подсказки для host, спецификация прямо говорит считать их недоверенными, если сервер не проверен. outputSchema позволяет вернуть structuredContent, который можно проверить по схеме.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управляются приложением (host). Сервер только отдаёт список и содержимое, а решение, что положить в контекст, принимает host или пользователь. В Claude Code ресурсы MCP-серверов доступны через упоминание @ (формат @сервер:uri). Шаблоны URI (todo://tasks/{id}) позволяют описать множество ресурсов одной строкой. Многие агенты поддерживают resources слабее, чем tools: проверить в выбранном клиенте.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 управляются пользователем: они не вызываются моделью автоматически. Сервер знает свою предметную область лучше всех, поэтому может предложить готовые сценарии с аргументами. В отличие от skill, prompt не лежит локально и не содержит скриптов: это просто сообщения, которые сервер собирает по запросу. Связать эти идеи пытается расширение Skills over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modelcontextprotocol.io/specification/2026-07-28/client/elicitation. В версии 2026-07-28 запрос приходит не отдельным сообщением от сервера, а внутри ответа input_required; клиент повторяет исходный вызов с ответом (accept с данными, decline или cancel). Три ответа различаются: decline — пользователь явно отказался, cancel — закрыл окно без выбора. Клиент объявляет поддержку в capabilities: elicitation: {form: {}, url: {}}. URL-режим не заменяет авторизацию клиента на MCP-сервере, он нужен, когда серверу самому нужны данные пользователя от стороннего сервиса. Связь с HITL: подтверждение опасного действия — классический сценарий.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позволял серверу использовать модель host: сервер формирует запрос (сообщения, системный промпт, предпочтения по модели), host показывает его пользователю, вызывает модель и возвращает ответ. В 2026-07-28 помечен deprecated (SEP-2577), рекомендуемая замена — прямая интеграция сервера с API провайдера. Причины в слайде сформулированы как вывод, а не цитата спецификации.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Roots позволяли клиенту сообщить серверу, с какими папками или URI работать (например, открытый в IDE проект), и уведомлять об изменениях списка. В 2026-07-28 помечены deprecated (SEP-2577) вместе с sampling и logging; уведомление roots/list_changed удалено. Замена — передавать пути явно: аргументами инструментов, URI ресурсов или конфигурацией сервера.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по спецификации 2026-07-28 (Multi Round-Trip Requests): сервер просит подтвердить удаление, клиент спрашивает пользователя и повторяет вызов. requestState сервер обязан защищать от подделки (HMAC или AEAD). Показать в MCP Inspector вживую, как выглядят сообщения, с поправкой на версию протокола, которую поддерживает SDK. Подчеркнуть разницу: ошибка протокола (неизвестный метод) и ошибка выполнения инструмента (пустое название). Вторую модель видит и может исправить аргументы.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stdio проще всего для разработки и практики. Для корпоративного использования обычно удалённый сервер за gateway с SSO. Старый транспорт HTTP+SSE из версии 2024-11-05 в спецификации 2026-07-28 формально помечен deprecated, но ещё встречается. В 2026-07-28 из Streamable HTTP убраны сессии (Mcp-Session-Id) и возобновление SSE-потоков; добавлены обязательные заголовки Mcp-Method и Mcp-Name. Секреты для stdio-сервера передаются через переменные окружения из конфига host; в репозиторий кладут только имена переменных. Удалённый сервер узнаёт пользователя по OAuth-токену, который приходит с каждым HTTP-запросом.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Live-демо. Запасной вариант: запись экрана. Обратить внимание, что ValueError превращается в результат с isError, и модель сама исправляет запрос. Это тот же контракт add_task, что в прошлых практиках. Отладка: MCP Inspector для ручных вызовов, pytest для функций инструментов. Для stdio stdout занят сообщениями протокола: любые print и логи только в stderr, иначе клиент получит мусор и отключится.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Синтаксис конфигов меняется, перед лекцией сверить с документацией каждого инструмента. Для GigaCode CLI проверить формат: он основан на Gemini/Qwen CLI, где MCP настраивается через mcpServers в settings.json.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Отвечает на вопрос «откуда берутся описания инструментов, если в .mcp.json прописаны только серверы». Описания пишет автор сервера: в FastMCP это имя функции, docstring и аннотации типов, из которых SDK строит JSON Schema. При подключении host спрашивает tools/list и получает этот список. Сообщения протокола подробно — на слайде «Как проходит взаимодействие». Показать вживую: в Claude Code /mcp показывает подключённые серверы и их инструменты, /context — сколько токенов занимают описания. Префикс mcp__&lt;сервер&gt;__&lt;инструмент&gt; — соглашение Claude Code, в других агентах формат может отличаться, но идея та же: имя сервера защищает от конфликтов имён. Следствие для безопасности: описания приходят от сервера, поэтому недобросовестный сервер может подложить в них инструкции (tool poisoning).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вопрос «вызываются ли MCP-инструменты так же, как встроенные». Не везде. Схема 1: базовый вариант, все описания в контексте. Схема 2: отложенная загрузка (deferred tools). В Claude Code поиск называется ToolSearch, режимы select:&lt;имя&gt; и поиск по ключевым словам; в Anthropic API то же самое делается через defer_loading: true и tool search tool. Схема 3: Qwen Code с deferred-tool-call bridge: tool_search для выбора и tool_call {name, arguments} для вызова; прямой вызов по имени тоже принимается. Обёртка нужна, чтобы список tools в системном промпте не менялся при открытии новых инструментов и не сбрасывался кэш промпта. Перед лекцией проверить актуальное поведение OpenCode, GigaCode CLI и Codex: реализации быстро меняются. Можно показать вживую: /context в Claude Code до и после включения поиска.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Отвечает на вопрос «отличаются ли вызовы базовых инструментов от MCP-инструментов». Со стороны модели это зависит от агента (см. предыдущий слайд): иногда тот же вызов по имени, иногда через поиск или обёртку tool_call. Host по имени понимает, куда направить вызов: встроенный выполняет сам, MCP отправляет на нужный сервер. Если сервер упал или не ответил вовремя, host возвращает модели ошибку вызова. Для долгих операций есть расширение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Каталоги: официальный реестр MCP (registry.modelcontextprotocol.io), списки awesome-mcp-servers. Предупредить, что в каталогах много неподдерживаемых и небезопасных серверов.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для демонстрации: в Claude Code команда /context показывает, сколько токенов занимают описания MCP-инструментов. Подключите GitHub MCP со всеми toolsets и посмотрите на цифру.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Общая мысль без конкретных цифр: если вывалить на агента всё подряд, растёт стоимость каждого шага, модель путает похожие инструменты и делает лишние вызовы. Универсальный агент с большим системным промптом и набором встроенных инструментов на узкой задаче нередко проигрывает простому циклу с минимальным набором инструментов: это стоит проверять замером на своих задачах. Иерархия — один из способов сократить выбор. Вариант 1 удобно делать в своём MCP-сервере: вместо 20 инструментов отдать 3–4 с параметром action (enum) и подробным описанием. Вариант 2 — это то, что делают ToolSearch в Claude Code и tool_search в Qwen Code со слайда «Как агенты вызывают MCP-инструменты». Вариант 3 — субагенты, подробнее про архитектуру агентов в теме 5. Минусы: схема с action и вложенным args менее строгая, модель чаще ошибается в аргументах, а каждый уровень добавляет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 — прокси между агентами и MCP-серверами, аналог API gateway в микросервисах. Агент подключается к одной точке, а она хранит токены к серверам, пишет лог каждого вызова, пропускает только разрешённые инструменты и следит за лимитами. Полезно, когда агентов и серверов много или нужна воспроизводимость (например, при оценке агентов: по логам видно, какие вызовы сделал агент). Версии: npx и uvx без указания версии каждый раз берут последнюю, и сервер может поменять имена или схемы инструментов. Рейт-лимиты: модель не знает о лимитах внешнего API, поэтому их соблюдает сервер или gateway, а ошибка 429 возвращается модели понятным текстом ("лимит, повторите через 30 секунд").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Пример: агент с GitHub MCP читает публичный issue (недоверенный контент), имеет доступ к приватным репозиториям (данные) и может создать PR или комментарий в публичном репо (канал наружу). Такой сценарий публично демонстрировался в 2025 году. Связать с HITL, который разбирали на прошлых занятиях.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стал общим форматом для многих агентов, CLAUDE.md — вариант Claude Code. Перед лекцией проверить, что из этого поддерживают GigaCode CLI и OpenCode на момент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Agent Skills появился в Claude Code в октябре 2025 и стал открытым стандартом (agentskills.io), его поддерживают и другие агенты. Пример skill повторяет цикл с прошлых занятий: требование → контракт → тесты → код → проверка. Как агент решает загрузить skill: name и description всех skills всегда в контексте, модель сама решает, что skill подходит, и читает SKILL.md. Отличие от MCP prompt: prompt вызывает пользователь явно. Скрипты внутри skill выполняются с правами агента, поэтому чужие skills читают перед установкой, как и чужие MCP-серверы.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на примере Claude Code. При старте host сканирует ~/.claude/skills, .claude/skills проекта и skills из плагинов, парсит только YAML-frontmatter. Список name + description встраивается в описание инструмента Skill. Модель вызывает Skill({skill: "django-feature"}); результат вызова короткий ("Launching skill"), а само тело SKILL.md host добавляет в разговор отдельным сообщением вместе с базовой папкой skill, чтобы относительные пути вроде scripts/check.sh работали. Дальше это обычный текст в истории: он не выгружается, пока не случится сжатие контекста. Файлы references модель открывает обычным Read, скрипты запускает через Bash, и в контекст попадает только вывод скрипта, а не его код — это третий уровень progressive disclosure. В Claude API (Agent Skills) skill лежит в контейнере, и модель читает SKILL.md через bash. В Codex CLI и ряде других агентов список skills с путями кладётся в системный промпт, а модель открывает файл сама. Явный вызов /имя-skill пользователем вставляет тело сразу, без решения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Частая ошибка: писать MCP-сервер там, где хватило бы skill со скриптом, или писать в AGENTS.md «всегда запускай тесты» вместо hook. Модель может забыть инструкцию, hook не забудет.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Корпоративный контур: внутренние GitLab, Jira, Confluence за VPN, self-hosted модели (например, GigaChat on-premise), MCP-серверы за корпоративным gateway с SSO. Обсудить с аудиторией, какие системы у них в компаниях.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Аналогично: claude -p в скриптах, opencode run, GitLab CI. Пример с GitHub Actions иллюстративный, синтаксис action сверить с актуальной документацией.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для любого CI: GitHub Actions, GitLab CI, Jenkins. Событие запускает job, job поднимает агента в headless-режиме (claude -p, qwen -p, opencode run) с моделью по API или на своём vLLM. Агент работает в цикле: читает diff, запускает тесты, при необходимости ходит в MCP-серверы на чтение. Результат — артефакт, который проверяет человек: комментарий-ревью, коммит в отдельную ветку или черновой PR. Связь со смертельной триадой: в PR может быть prompt injection (в коде, описании, комментариях), а в job лежат токены. Поэтому: минимальные permissions, никаких продовых секретов, нет мержа, лимиты по времени и шагам, логи прогонов сохраняются, чтобы разбирать ошибки. Для PR из форков секреты в GitHub Actions по умолчанию не передаются, это защита, а не баг. Если модель на внутреннем vLLM, раннер должен иметь к нему доступ: self-hosted runner или внутренний GitLab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корпоративной интеграции. Для Jira Cloud у Atlassian есть официальный удалённый MCP-сервер с OAuth (проверить актуальное название и адрес в документации Atlassian). Для Jira Server и Data Center, которые обычно стоят за VPN, подходит open-source сервер mcp-atlassian (github.com/sooperset/mcp-atlassian): запускается локально через uvx или Docker, авторизация по Personal Access Token (JIRA_PERSONAL_TOKEN), поддерживает Jira 8.14+ и Confluence. Полезные настройки: JIRA_PROJECTS_FILTER ограничивает проекты, READ_ONLY_MODE=true отключает любые записи, ENABLED_TOOLS задаёт allowlist инструментов. Версию сервера фиксируем. Токен не кладём в конфиг, только переменную окружения. Тот же сервер даёт доступ к Confluence: требования и ADR агент может читать оттуда. Связь со смертельной триадой: текст задачи и комментарии в Jira пишут люди, это недоверенный контент. Если у агента есть ещё и канал наружу, нужна осторожность. Альтернатива MCP: Jira REST API или CLI (например, acli), если агенту хватает терминала. Вопрос аудитории: какие ещё корпоративные системы стоит подключить так же? Обычно называют GitLab, Confluence, YouTrack, внутренние сервисы.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Отсылка к статье Anthropic «Building effective agents»: workflows против agents. Вопрос аудитории: обработка заявок в техподдержку — это workflow или агент?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Проверить лицензию n8n (Sustainable Use License, не OSI open source) и аккуратно формулировать «open-source»: исходники открыты, для внутреннего использования бесплатно. Запуск для практики: docker run -it --rm -p 5678:5678 n8nio/n8n или npx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 n8n Basic LLM Chain с Structured Output Parser и AI Agent с MCP Client Tool. Названия нод сверить с актуальной версией n8n. Как гарантировать правильный JSON от LLM-шага: structured output или парсер со схемой, при ошибке повтор или отдельная ветка. Результату модели доверяют только после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Live-демо или запись, пошаговая инструкция в lecture-04/demo/n8n_issue_triage.md. Задачи и бэклог пишутся в Obsidian через плагин Local REST API, модель на vLLM. Telegram в конце необязателен. Показать, как посмотреть входные и выходные данные каждой ноды и как LLM-шаг ошибается на неоднозначном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выводов. Можно дать как вопросы на повторение в начале следующей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" TargetMode="Externa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image" Target="../media/image-12-5.png"/><Relationship Id="rId7" Type="http://schemas.openxmlformats.org/officeDocument/2006/relationships/image" Target="../media/image-12-6.png"/><Relationship Id="rId8" Type="http://schemas.openxmlformats.org/officeDocument/2006/relationships/image" Target="../media/image-12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7.png"/><Relationship Id="rId8" Type="http://schemas.openxmlformats.org/officeDocument/2006/relationships/image" Target="../media/image-4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MCP, Tools, Skills и AI Automation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Тема 4. Как дать агенту руки за пределами репозитория</a:t>
            </a:r>
            <a:endParaRPr lang="en-US" sz="2000" dirty="0"/>
          </a:p>
        </p:txBody>
      </p:sp>
      <p:sp>
        <p:nvSpPr>
          <p:cNvPr id="4" name="connector"/>
          <p:cNvSpPr/>
          <p:nvPr/>
        </p:nvSpPr>
        <p:spPr>
          <a:xfrm flipV="1">
            <a:off x="9509760" y="1600200"/>
            <a:ext cx="914" cy="1828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914400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GitBran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934" y="1395374"/>
            <a:ext cx="409651" cy="409651"/>
          </a:xfrm>
          <a:prstGeom prst="rect">
            <a:avLst/>
          </a:prstGeom>
        </p:spPr>
      </p:pic>
      <p:sp>
        <p:nvSpPr>
          <p:cNvPr id="7" name="connector"/>
          <p:cNvSpPr/>
          <p:nvPr/>
        </p:nvSpPr>
        <p:spPr>
          <a:xfrm flipV="1">
            <a:off x="9509760" y="2514600"/>
            <a:ext cx="1583787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icon circle"/>
          <p:cNvSpPr/>
          <p:nvPr/>
        </p:nvSpPr>
        <p:spPr>
          <a:xfrm>
            <a:off x="10727787" y="21488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 LuDatab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722" y="2309774"/>
            <a:ext cx="409651" cy="409651"/>
          </a:xfrm>
          <a:prstGeom prst="rect">
            <a:avLst/>
          </a:prstGeom>
        </p:spPr>
      </p:pic>
      <p:sp>
        <p:nvSpPr>
          <p:cNvPr id="10" name="connector"/>
          <p:cNvSpPr/>
          <p:nvPr/>
        </p:nvSpPr>
        <p:spPr>
          <a:xfrm>
            <a:off x="9509760" y="3429000"/>
            <a:ext cx="1583787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icon circle"/>
          <p:cNvSpPr/>
          <p:nvPr/>
        </p:nvSpPr>
        <p:spPr>
          <a:xfrm>
            <a:off x="10727787" y="397764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con LuGlo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722" y="4138574"/>
            <a:ext cx="409651" cy="409651"/>
          </a:xfrm>
          <a:prstGeom prst="rect">
            <a:avLst/>
          </a:prstGeom>
        </p:spPr>
      </p:pic>
      <p:sp>
        <p:nvSpPr>
          <p:cNvPr id="13" name="connector"/>
          <p:cNvSpPr/>
          <p:nvPr/>
        </p:nvSpPr>
        <p:spPr>
          <a:xfrm>
            <a:off x="9509760" y="3429000"/>
            <a:ext cx="914" cy="1828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4" name="icon circle"/>
          <p:cNvSpPr/>
          <p:nvPr/>
        </p:nvSpPr>
        <p:spPr>
          <a:xfrm>
            <a:off x="9144000" y="4892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 LuSquareKanba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934" y="5052974"/>
            <a:ext cx="409651" cy="409651"/>
          </a:xfrm>
          <a:prstGeom prst="rect">
            <a:avLst/>
          </a:prstGeom>
        </p:spPr>
      </p:pic>
      <p:sp>
        <p:nvSpPr>
          <p:cNvPr id="16" name="connector"/>
          <p:cNvSpPr/>
          <p:nvPr/>
        </p:nvSpPr>
        <p:spPr>
          <a:xfrm flipH="1">
            <a:off x="7925973" y="3429000"/>
            <a:ext cx="1583787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icon circle"/>
          <p:cNvSpPr/>
          <p:nvPr/>
        </p:nvSpPr>
        <p:spPr>
          <a:xfrm>
            <a:off x="7560213" y="39776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BookOpe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147" y="4138574"/>
            <a:ext cx="409651" cy="409651"/>
          </a:xfrm>
          <a:prstGeom prst="rect">
            <a:avLst/>
          </a:prstGeom>
        </p:spPr>
      </p:pic>
      <p:sp>
        <p:nvSpPr>
          <p:cNvPr id="19" name="connector"/>
          <p:cNvSpPr/>
          <p:nvPr/>
        </p:nvSpPr>
        <p:spPr>
          <a:xfrm flipH="1" flipV="1">
            <a:off x="7925973" y="2514600"/>
            <a:ext cx="1583787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0" name="icon circle"/>
          <p:cNvSpPr/>
          <p:nvPr/>
        </p:nvSpPr>
        <p:spPr>
          <a:xfrm>
            <a:off x="7560213" y="21488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on LuWorkfl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147" y="2309774"/>
            <a:ext cx="409651" cy="409651"/>
          </a:xfrm>
          <a:prstGeom prst="rect">
            <a:avLst/>
          </a:prstGeom>
        </p:spPr>
      </p:pic>
      <p:sp>
        <p:nvSpPr>
          <p:cNvPr id="22" name="icon circle"/>
          <p:cNvSpPr/>
          <p:nvPr/>
        </p:nvSpPr>
        <p:spPr>
          <a:xfrm>
            <a:off x="8823960" y="2743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LuBo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04495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лекции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 одного вызова инструмента до автоматизации командных процессов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Tools и function calling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как модель вызывает инструмент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number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 Context Protocol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архитектура, примитивы, демо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138160" y="160020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5" name="number"/>
          <p:cNvSpPr/>
          <p:nvPr/>
        </p:nvSpPr>
        <p:spPr>
          <a:xfrm>
            <a:off x="8412480" y="18745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MCP в реальности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контекст, иерархия инструментов, безопасность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457200" y="361188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0" name="number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Skills и другие расширения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343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AGENTS.md, Skills, hooks, subagents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297680" y="361188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5" name="number"/>
          <p:cNvSpPr/>
          <p:nvPr/>
        </p:nvSpPr>
        <p:spPr>
          <a:xfrm>
            <a:off x="4572000" y="38862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Интеграция в процесс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4343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IDE, Git, CI/CD, корп. сервисы</a:t>
            </a:r>
            <a:endParaRPr lang="en-US" sz="1500" dirty="0"/>
          </a:p>
        </p:txBody>
      </p:sp>
      <p:sp>
        <p:nvSpPr>
          <p:cNvPr id="29" name="card"/>
          <p:cNvSpPr/>
          <p:nvPr/>
        </p:nvSpPr>
        <p:spPr>
          <a:xfrm>
            <a:off x="8138160" y="3611880"/>
            <a:ext cx="3593592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0" name="number"/>
          <p:cNvSpPr/>
          <p:nvPr/>
        </p:nvSpPr>
        <p:spPr>
          <a:xfrm>
            <a:off x="841248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AI-автоматизация и n8n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4343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workflow, LLM-шаги, AI Agent</a:t>
            </a:r>
            <a:endParaRPr lang="en-US" sz="1500" dirty="0"/>
          </a:p>
        </p:txBody>
      </p:sp>
      <p:sp>
        <p:nvSpPr>
          <p:cNvPr id="3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5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Сквозной пример: ToDo-приложение из прошлых практик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Подключим к нему MCP-сервер, Skill и n8n-автоматизацию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Агенту не хватает рук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 прошлых занятиях агент работал внутри репозитория. Реальная задача почти всегда выходит за его пределы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Уже умеет</a:t>
            </a:r>
            <a:endParaRPr lang="en-US" sz="1700" dirty="0"/>
          </a:p>
        </p:txBody>
      </p:sp>
      <p:sp>
        <p:nvSpPr>
          <p:cNvPr id="6" name="icon circle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 Lu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48808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читать и менять код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777240" y="31272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 LuTermin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23789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127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запускать команды</a:t>
            </a:r>
            <a:endParaRPr lang="en-US" sz="1600" dirty="0"/>
          </a:p>
        </p:txBody>
      </p:sp>
      <p:sp>
        <p:nvSpPr>
          <p:cNvPr id="12" name="icon circle"/>
          <p:cNvSpPr/>
          <p:nvPr/>
        </p:nvSpPr>
        <p:spPr>
          <a:xfrm>
            <a:off x="777240" y="38770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 LuGitBran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3987698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8770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работать с git</a:t>
            </a:r>
            <a:endParaRPr lang="en-US" sz="1600" dirty="0"/>
          </a:p>
        </p:txBody>
      </p:sp>
      <p:sp>
        <p:nvSpPr>
          <p:cNvPr id="15" name="icon circle"/>
          <p:cNvSpPr/>
          <p:nvPr/>
        </p:nvSpPr>
        <p:spPr>
          <a:xfrm>
            <a:off x="777240" y="462686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LuListCheck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737506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6268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запускать тесты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4434840" y="1600200"/>
            <a:ext cx="7296912" cy="3931920"/>
          </a:xfrm>
          <a:prstGeom prst="roundRect">
            <a:avLst>
              <a:gd name="adj" fmla="val 279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70916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Не видит без интеграций</a:t>
            </a:r>
            <a:endParaRPr lang="en-US" sz="1700" dirty="0"/>
          </a:p>
        </p:txBody>
      </p:sp>
      <p:sp>
        <p:nvSpPr>
          <p:cNvPr id="20" name="icon circle"/>
          <p:cNvSpPr/>
          <p:nvPr/>
        </p:nvSpPr>
        <p:spPr>
          <a:xfrm>
            <a:off x="4709160" y="2377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 LuSquareKan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802" y="248808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Трекер задач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что именно нужно сделать</a:t>
            </a:r>
            <a:endParaRPr lang="en-US" sz="1600" dirty="0"/>
          </a:p>
        </p:txBody>
      </p:sp>
      <p:sp>
        <p:nvSpPr>
          <p:cNvPr id="23" name="icon circle"/>
          <p:cNvSpPr/>
          <p:nvPr/>
        </p:nvSpPr>
        <p:spPr>
          <a:xfrm>
            <a:off x="8229600" y="2377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 LuDatabas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242" y="2488082"/>
            <a:ext cx="281635" cy="28163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86968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База данных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реальные данные и схема</a:t>
            </a:r>
            <a:endParaRPr lang="en-US" sz="1600" dirty="0"/>
          </a:p>
        </p:txBody>
      </p:sp>
      <p:sp>
        <p:nvSpPr>
          <p:cNvPr id="26" name="icon circle"/>
          <p:cNvSpPr/>
          <p:nvPr/>
        </p:nvSpPr>
        <p:spPr>
          <a:xfrm>
            <a:off x="4709160" y="33832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on LuGlob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802" y="3493922"/>
            <a:ext cx="281635" cy="28163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34924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Браузер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как выглядит и работает UI</a:t>
            </a:r>
            <a:endParaRPr lang="en-US" sz="1600" dirty="0"/>
          </a:p>
        </p:txBody>
      </p:sp>
      <p:sp>
        <p:nvSpPr>
          <p:cNvPr id="29" name="icon circle"/>
          <p:cNvSpPr/>
          <p:nvPr/>
        </p:nvSpPr>
        <p:spPr>
          <a:xfrm>
            <a:off x="8229600" y="33832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 LuBookOpe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242" y="3493922"/>
            <a:ext cx="281635" cy="28163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86968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Документация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актуальные версии библиотек</a:t>
            </a:r>
            <a:endParaRPr lang="en-US" sz="1600" dirty="0"/>
          </a:p>
        </p:txBody>
      </p:sp>
      <p:sp>
        <p:nvSpPr>
          <p:cNvPr id="32" name="icon circle"/>
          <p:cNvSpPr/>
          <p:nvPr/>
        </p:nvSpPr>
        <p:spPr>
          <a:xfrm>
            <a:off x="4709160" y="4389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con LuRocke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9802" y="4499762"/>
            <a:ext cx="281635" cy="28163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349240" y="4343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CI/CD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почему упала сборка</a:t>
            </a:r>
            <a:endParaRPr lang="en-US" sz="1600" dirty="0"/>
          </a:p>
        </p:txBody>
      </p:sp>
      <p:sp>
        <p:nvSpPr>
          <p:cNvPr id="35" name="icon circle"/>
          <p:cNvSpPr/>
          <p:nvPr/>
        </p:nvSpPr>
        <p:spPr>
          <a:xfrm>
            <a:off x="8229600" y="4389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icon LuMessageSquar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242" y="4499762"/>
            <a:ext cx="281635" cy="28163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869680" y="4343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Чаты и почта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контекст обсуждений</a:t>
            </a:r>
            <a:endParaRPr lang="en-US" sz="1600" dirty="0"/>
          </a:p>
        </p:txBody>
      </p:sp>
      <p:sp>
        <p:nvSpPr>
          <p:cNvPr id="3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9" name="icon LuTarge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Агент полезен настолько, насколько полезны его инструменты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 насколько точно описаны их контракты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N×M интеграций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Каждому агенту свой коннектор к каждому сервису, или один общий протокол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Без стандарта: N × M</a:t>
            </a:r>
            <a:endParaRPr lang="en-US" sz="1700" dirty="0"/>
          </a:p>
        </p:txBody>
      </p:sp>
      <p:sp>
        <p:nvSpPr>
          <p:cNvPr id="6" name="pill"/>
          <p:cNvSpPr/>
          <p:nvPr/>
        </p:nvSpPr>
        <p:spPr>
          <a:xfrm>
            <a:off x="731520" y="22860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8" name="pill"/>
          <p:cNvSpPr/>
          <p:nvPr/>
        </p:nvSpPr>
        <p:spPr>
          <a:xfrm>
            <a:off x="4023360" y="22860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9651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GitHub</a:t>
            </a:r>
            <a:endParaRPr lang="en-US" sz="1300" dirty="0"/>
          </a:p>
        </p:txBody>
      </p:sp>
      <p:sp>
        <p:nvSpPr>
          <p:cNvPr id="10" name="pill"/>
          <p:cNvSpPr/>
          <p:nvPr/>
        </p:nvSpPr>
        <p:spPr>
          <a:xfrm>
            <a:off x="731520" y="30632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0632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OpenCode</a:t>
            </a:r>
            <a:endParaRPr lang="en-US" sz="1300" dirty="0"/>
          </a:p>
        </p:txBody>
      </p:sp>
      <p:sp>
        <p:nvSpPr>
          <p:cNvPr id="12" name="pill"/>
          <p:cNvSpPr/>
          <p:nvPr/>
        </p:nvSpPr>
        <p:spPr>
          <a:xfrm>
            <a:off x="4023360" y="30632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96512" y="30632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Jira</a:t>
            </a:r>
            <a:endParaRPr lang="en-US" sz="1300" dirty="0"/>
          </a:p>
        </p:txBody>
      </p:sp>
      <p:sp>
        <p:nvSpPr>
          <p:cNvPr id="14" name="pill"/>
          <p:cNvSpPr/>
          <p:nvPr/>
        </p:nvSpPr>
        <p:spPr>
          <a:xfrm>
            <a:off x="731520" y="384048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8404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GigaCode CLI</a:t>
            </a:r>
            <a:endParaRPr lang="en-US" sz="1300" dirty="0"/>
          </a:p>
        </p:txBody>
      </p:sp>
      <p:sp>
        <p:nvSpPr>
          <p:cNvPr id="16" name="pill"/>
          <p:cNvSpPr/>
          <p:nvPr/>
        </p:nvSpPr>
        <p:spPr>
          <a:xfrm>
            <a:off x="4023360" y="384048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96512" y="38404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8" name="pill"/>
          <p:cNvSpPr/>
          <p:nvPr/>
        </p:nvSpPr>
        <p:spPr>
          <a:xfrm>
            <a:off x="731520" y="461772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</a:t>
            </a:r>
            <a:endParaRPr lang="en-US" sz="1300" dirty="0"/>
          </a:p>
        </p:txBody>
      </p:sp>
      <p:sp>
        <p:nvSpPr>
          <p:cNvPr id="20" name="pill"/>
          <p:cNvSpPr/>
          <p:nvPr/>
        </p:nvSpPr>
        <p:spPr>
          <a:xfrm>
            <a:off x="4023360" y="461772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96512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Браузер</a:t>
            </a:r>
            <a:endParaRPr lang="en-US" sz="1300" dirty="0"/>
          </a:p>
        </p:txBody>
      </p:sp>
      <p:sp>
        <p:nvSpPr>
          <p:cNvPr id="22" name="nm line"/>
          <p:cNvSpPr/>
          <p:nvPr/>
        </p:nvSpPr>
        <p:spPr>
          <a:xfrm>
            <a:off x="2331720" y="2537460"/>
            <a:ext cx="1691640" cy="914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3" name="nm line"/>
          <p:cNvSpPr/>
          <p:nvPr/>
        </p:nvSpPr>
        <p:spPr>
          <a:xfrm>
            <a:off x="2331720" y="253746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4" name="nm line"/>
          <p:cNvSpPr/>
          <p:nvPr/>
        </p:nvSpPr>
        <p:spPr>
          <a:xfrm>
            <a:off x="2331720" y="2537460"/>
            <a:ext cx="1691640" cy="155448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5" name="nm line"/>
          <p:cNvSpPr/>
          <p:nvPr/>
        </p:nvSpPr>
        <p:spPr>
          <a:xfrm>
            <a:off x="2331720" y="2537460"/>
            <a:ext cx="1691640" cy="233172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6" name="nm line"/>
          <p:cNvSpPr/>
          <p:nvPr/>
        </p:nvSpPr>
        <p:spPr>
          <a:xfrm flipV="1">
            <a:off x="2331720" y="253746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7" name="nm line"/>
          <p:cNvSpPr/>
          <p:nvPr/>
        </p:nvSpPr>
        <p:spPr>
          <a:xfrm>
            <a:off x="2331720" y="3314700"/>
            <a:ext cx="1691640" cy="914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8" name="nm line"/>
          <p:cNvSpPr/>
          <p:nvPr/>
        </p:nvSpPr>
        <p:spPr>
          <a:xfrm>
            <a:off x="2331720" y="331470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29" name="nm line"/>
          <p:cNvSpPr/>
          <p:nvPr/>
        </p:nvSpPr>
        <p:spPr>
          <a:xfrm>
            <a:off x="2331720" y="3314700"/>
            <a:ext cx="1691640" cy="155448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0" name="nm line"/>
          <p:cNvSpPr/>
          <p:nvPr/>
        </p:nvSpPr>
        <p:spPr>
          <a:xfrm flipV="1">
            <a:off x="2331720" y="2537460"/>
            <a:ext cx="1691640" cy="155448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1" name="nm line"/>
          <p:cNvSpPr/>
          <p:nvPr/>
        </p:nvSpPr>
        <p:spPr>
          <a:xfrm flipV="1">
            <a:off x="2331720" y="331470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2" name="nm line"/>
          <p:cNvSpPr/>
          <p:nvPr/>
        </p:nvSpPr>
        <p:spPr>
          <a:xfrm>
            <a:off x="2331720" y="4091940"/>
            <a:ext cx="1691640" cy="914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3" name="nm line"/>
          <p:cNvSpPr/>
          <p:nvPr/>
        </p:nvSpPr>
        <p:spPr>
          <a:xfrm>
            <a:off x="2331720" y="409194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4" name="nm line"/>
          <p:cNvSpPr/>
          <p:nvPr/>
        </p:nvSpPr>
        <p:spPr>
          <a:xfrm flipV="1">
            <a:off x="2331720" y="2537460"/>
            <a:ext cx="1691640" cy="233172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5" name="nm line"/>
          <p:cNvSpPr/>
          <p:nvPr/>
        </p:nvSpPr>
        <p:spPr>
          <a:xfrm flipV="1">
            <a:off x="2331720" y="3314700"/>
            <a:ext cx="1691640" cy="155448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6" name="nm line"/>
          <p:cNvSpPr/>
          <p:nvPr/>
        </p:nvSpPr>
        <p:spPr>
          <a:xfrm flipV="1">
            <a:off x="2331720" y="4091940"/>
            <a:ext cx="1691640" cy="777240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7" name="nm line"/>
          <p:cNvSpPr/>
          <p:nvPr/>
        </p:nvSpPr>
        <p:spPr>
          <a:xfrm>
            <a:off x="2331720" y="4869180"/>
            <a:ext cx="1691640" cy="914"/>
          </a:xfrm>
          <a:prstGeom prst="line">
            <a:avLst/>
          </a:prstGeom>
          <a:noFill/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8" name="card"/>
          <p:cNvSpPr/>
          <p:nvPr/>
        </p:nvSpPr>
        <p:spPr>
          <a:xfrm>
            <a:off x="6291072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65392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С MCP: N + M</a:t>
            </a:r>
            <a:endParaRPr lang="en-US" sz="1700" dirty="0"/>
          </a:p>
        </p:txBody>
      </p:sp>
      <p:sp>
        <p:nvSpPr>
          <p:cNvPr id="40" name="pill"/>
          <p:cNvSpPr/>
          <p:nvPr/>
        </p:nvSpPr>
        <p:spPr>
          <a:xfrm>
            <a:off x="6565392" y="22860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38544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42" name="pill"/>
          <p:cNvSpPr/>
          <p:nvPr/>
        </p:nvSpPr>
        <p:spPr>
          <a:xfrm>
            <a:off x="9857232" y="22860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30384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GitHub</a:t>
            </a:r>
            <a:endParaRPr lang="en-US" sz="1300" dirty="0"/>
          </a:p>
        </p:txBody>
      </p:sp>
      <p:sp>
        <p:nvSpPr>
          <p:cNvPr id="44" name="pill"/>
          <p:cNvSpPr/>
          <p:nvPr/>
        </p:nvSpPr>
        <p:spPr>
          <a:xfrm>
            <a:off x="6565392" y="30632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38544" y="30632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OpenCode</a:t>
            </a:r>
            <a:endParaRPr lang="en-US" sz="1300" dirty="0"/>
          </a:p>
        </p:txBody>
      </p:sp>
      <p:sp>
        <p:nvSpPr>
          <p:cNvPr id="46" name="pill"/>
          <p:cNvSpPr/>
          <p:nvPr/>
        </p:nvSpPr>
        <p:spPr>
          <a:xfrm>
            <a:off x="9857232" y="30632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930384" y="30632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Jira</a:t>
            </a:r>
            <a:endParaRPr lang="en-US" sz="1300" dirty="0"/>
          </a:p>
        </p:txBody>
      </p:sp>
      <p:sp>
        <p:nvSpPr>
          <p:cNvPr id="48" name="pill"/>
          <p:cNvSpPr/>
          <p:nvPr/>
        </p:nvSpPr>
        <p:spPr>
          <a:xfrm>
            <a:off x="6565392" y="384048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38544" y="38404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GigaCode CLI</a:t>
            </a:r>
            <a:endParaRPr lang="en-US" sz="1300" dirty="0"/>
          </a:p>
        </p:txBody>
      </p:sp>
      <p:sp>
        <p:nvSpPr>
          <p:cNvPr id="50" name="pill"/>
          <p:cNvSpPr/>
          <p:nvPr/>
        </p:nvSpPr>
        <p:spPr>
          <a:xfrm>
            <a:off x="9857232" y="384048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930384" y="38404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52" name="pill"/>
          <p:cNvSpPr/>
          <p:nvPr/>
        </p:nvSpPr>
        <p:spPr>
          <a:xfrm>
            <a:off x="6565392" y="461772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38544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</a:t>
            </a:r>
            <a:endParaRPr lang="en-US" sz="1300" dirty="0"/>
          </a:p>
        </p:txBody>
      </p:sp>
      <p:sp>
        <p:nvSpPr>
          <p:cNvPr id="54" name="pill"/>
          <p:cNvSpPr/>
          <p:nvPr/>
        </p:nvSpPr>
        <p:spPr>
          <a:xfrm>
            <a:off x="9857232" y="461772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930384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Браузер</a:t>
            </a:r>
            <a:endParaRPr lang="en-US" sz="1300" dirty="0"/>
          </a:p>
        </p:txBody>
      </p:sp>
      <p:sp>
        <p:nvSpPr>
          <p:cNvPr id="56" name="mcp hub"/>
          <p:cNvSpPr/>
          <p:nvPr/>
        </p:nvSpPr>
        <p:spPr>
          <a:xfrm>
            <a:off x="8622792" y="2286000"/>
            <a:ext cx="822960" cy="283464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22792" y="2286000"/>
            <a:ext cx="822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MCP</a:t>
            </a:r>
            <a:endParaRPr lang="en-US" sz="1600" dirty="0"/>
          </a:p>
        </p:txBody>
      </p:sp>
      <p:sp>
        <p:nvSpPr>
          <p:cNvPr id="58" name="arrow"/>
          <p:cNvSpPr/>
          <p:nvPr/>
        </p:nvSpPr>
        <p:spPr>
          <a:xfrm>
            <a:off x="8165592" y="2537460"/>
            <a:ext cx="45720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59" name="arrow"/>
          <p:cNvSpPr/>
          <p:nvPr/>
        </p:nvSpPr>
        <p:spPr>
          <a:xfrm>
            <a:off x="9445752" y="2537460"/>
            <a:ext cx="41148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0" name="arrow"/>
          <p:cNvSpPr/>
          <p:nvPr/>
        </p:nvSpPr>
        <p:spPr>
          <a:xfrm>
            <a:off x="8165592" y="3314700"/>
            <a:ext cx="45720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1" name="arrow"/>
          <p:cNvSpPr/>
          <p:nvPr/>
        </p:nvSpPr>
        <p:spPr>
          <a:xfrm>
            <a:off x="9445752" y="3314700"/>
            <a:ext cx="41148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2" name="arrow"/>
          <p:cNvSpPr/>
          <p:nvPr/>
        </p:nvSpPr>
        <p:spPr>
          <a:xfrm>
            <a:off x="8165592" y="4091940"/>
            <a:ext cx="45720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3" name="arrow"/>
          <p:cNvSpPr/>
          <p:nvPr/>
        </p:nvSpPr>
        <p:spPr>
          <a:xfrm>
            <a:off x="9445752" y="4091940"/>
            <a:ext cx="41148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4" name="arrow"/>
          <p:cNvSpPr/>
          <p:nvPr/>
        </p:nvSpPr>
        <p:spPr>
          <a:xfrm>
            <a:off x="8165592" y="4869180"/>
            <a:ext cx="45720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5" name="arrow"/>
          <p:cNvSpPr/>
          <p:nvPr/>
        </p:nvSpPr>
        <p:spPr>
          <a:xfrm>
            <a:off x="9445752" y="4869180"/>
            <a:ext cx="41148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6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67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 для агентов то же, что USB-C для устройств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Сервис пишет MCP-сервер один раз, и его может использовать любой совместимый агент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и function calling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Как модель вообще может что-то сделать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модель вызывает инструмент?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Вопрос аудитории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6949440" cy="3931920"/>
          </a:xfrm>
          <a:prstGeom prst="roundRect">
            <a:avLst>
              <a:gd name="adj" fmla="val 279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B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796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553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Модель умеет только генерировать текст. Как тогда агент создаёт задачу, запускает тесты или открывает страницу в браузере?</a:t>
            </a:r>
            <a:endParaRPr lang="en-US" sz="2000" dirty="0"/>
          </a:p>
        </p:txBody>
      </p:sp>
      <p:sp>
        <p:nvSpPr>
          <p:cNvPr id="8" name="number"/>
          <p:cNvSpPr/>
          <p:nvPr/>
        </p:nvSpPr>
        <p:spPr>
          <a:xfrm>
            <a:off x="731520" y="333756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3375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Кто на самом деле выполняет код?</a:t>
            </a:r>
            <a:endParaRPr lang="en-US" sz="1700" dirty="0"/>
          </a:p>
        </p:txBody>
      </p:sp>
      <p:sp>
        <p:nvSpPr>
          <p:cNvPr id="11" name="number"/>
          <p:cNvSpPr/>
          <p:nvPr/>
        </p:nvSpPr>
        <p:spPr>
          <a:xfrm>
            <a:off x="731520" y="402336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40233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Откуда модель знает, какие инструменты у неё есть?</a:t>
            </a:r>
            <a:endParaRPr lang="en-US" sz="1700" dirty="0"/>
          </a:p>
        </p:txBody>
      </p:sp>
      <p:sp>
        <p:nvSpPr>
          <p:cNvPr id="14" name="number"/>
          <p:cNvSpPr/>
          <p:nvPr/>
        </p:nvSpPr>
        <p:spPr>
          <a:xfrm>
            <a:off x="731520" y="470916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709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7091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Что происходит с результатом вызова?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13258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Подсказка: вот что модель видит в контексте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8092440" y="1600200"/>
            <a:ext cx="3639312" cy="3931920"/>
          </a:xfrm>
          <a:prstGeom prst="roundRect">
            <a:avLst>
              <a:gd name="adj" fmla="val 20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737360"/>
            <a:ext cx="32735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"add_task",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"Добавляет задачу.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Пробелы по краям удаляются.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Пустое название запрещено.",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{"type": "string",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"minLength": 1}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["title"]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модель вызывает инструмент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Модель не выполняет код. Она возвращает намерение, а исполняет его обвязка агента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00584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FileT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19138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Описание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8803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имя, назначение и JSON Schema аргументов попадают в контекст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148840" y="2926080"/>
            <a:ext cx="1828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331720" y="160020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2880360" y="17830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LuBra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119" y="19138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2316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Решение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468880" y="28803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отвечает не текстом, а вызовом tool с аргументами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4023360" y="2926080"/>
            <a:ext cx="1828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4206240" y="160020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4754880" y="17830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 LuWren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639" y="19138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9768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Исполнение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343400" y="28803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обвязка агента проверяет права и вызывает функцию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5897880" y="2926080"/>
            <a:ext cx="1828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6080760" y="160020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6629400" y="17830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 LuCircle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159" y="19138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1722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Результат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0" y="28803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ответ возвращается в контекст, цикл повторяется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480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Тот же цикл, что на слайде «Инструменты работы AI-агента» на прошлых занятиях, только инструментов становится больше.</a:t>
            </a:r>
            <a:endParaRPr lang="en-US" sz="1500" dirty="0"/>
          </a:p>
        </p:txBody>
      </p:sp>
      <p:sp>
        <p:nvSpPr>
          <p:cNvPr id="28" name="code block"/>
          <p:cNvSpPr/>
          <p:nvPr/>
        </p:nvSpPr>
        <p:spPr>
          <a:xfrm>
            <a:off x="8092440" y="1600200"/>
            <a:ext cx="3639312" cy="3931920"/>
          </a:xfrm>
          <a:prstGeom prst="roundRect">
            <a:avLst>
              <a:gd name="adj" fmla="val 20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75320" y="1737360"/>
            <a:ext cx="32735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"add_task",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"Добавляет задачу.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Пробелы по краям удаляются.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Пустое название запрещено.",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{"type": "string",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"minLength": 1}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["title"]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1" name="icon Lu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Агент — это цикл: модель решает, обвязка исполняет, результат возвращается в контекст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 — это контракт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Тот же подход, что с функцией add_task на прошлых занятиях: требование → контракт → проверка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Плохо</a:t>
            </a:r>
            <a:endParaRPr lang="en-US" sz="1700" dirty="0"/>
          </a:p>
        </p:txBody>
      </p:sp>
      <p:sp>
        <p:nvSpPr>
          <p:cNvPr id="6" name="code block"/>
          <p:cNvSpPr/>
          <p:nvPr/>
        </p:nvSpPr>
        <p:spPr>
          <a:xfrm>
            <a:off x="731520" y="2194560"/>
            <a:ext cx="4892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31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"do"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"Работа с задачами"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args: {"data": "string"}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непонятно, когда вызывать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аргументы без структуры, модель угадывает формат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ошибка возвращается как трейсбек Python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один инструмент делает всё, включая удаление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91072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Хорошо</a:t>
            </a:r>
            <a:endParaRPr lang="en-US" sz="1700" dirty="0"/>
          </a:p>
        </p:txBody>
      </p:sp>
      <p:sp>
        <p:nvSpPr>
          <p:cNvPr id="11" name="code block"/>
          <p:cNvSpPr/>
          <p:nvPr/>
        </p:nvSpPr>
        <p:spPr>
          <a:xfrm>
            <a:off x="6565392" y="2194560"/>
            <a:ext cx="4892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48272" y="2331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"add_task"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"Добавляет задачу. Пробелы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по краям удаляются, пустое название запрещено"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args: {"title": string, minLength 1}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47472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имя и описание говорят, когда и зачем вызывать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схема ограничивает аргументы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ошибка понятна модели: «название пустое», состояние не изменилось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чтение и запись разделены, опасное помечено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5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Описание инструмента — это промпт, который модель читает при каждом выборе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Его надо проектировать и тестировать так же, как API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Открытый стандарт подключения инструментов и данных к LLM-приложениям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MCP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Открытый протокол поверх JSON-RPC 2.0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Spark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9138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Откуда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Anthropic, ноябрь 2024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 декабря 2025 развивается в Agentic AI Foundation (Linux Foundation)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актуальная версия спецификации 2026-07-28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 Lu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9138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Что стандартизирует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517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как сервер описывает инструменты и данные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как клиент их находит и вызывает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транспорт, версии, авторизацию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13816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412480" y="17830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LuPlu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239" y="19138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Кто поддерживает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6517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Claude Code, OpenCode, Codex, Gemini CLI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VS Code, JetBrains, Cursor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n8n, ChatGPT, Claude.ai и другие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0" name="icon Lu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 не делает модель умнее. Он стандартизирует доступ к инструментам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Качество работы по-прежнему зависит от модели, обвязки и описаний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host, client, server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Один host держит по одному клиенту на каждый подключённый сервер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3840480" cy="1965960"/>
          </a:xfrm>
          <a:prstGeom prst="roundRect">
            <a:avLst>
              <a:gd name="adj" fmla="val 558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Host</a:t>
            </a:r>
            <a:endParaRPr lang="en-US" sz="1700" dirty="0"/>
          </a:p>
        </p:txBody>
      </p:sp>
      <p:sp>
        <p:nvSpPr>
          <p:cNvPr id="6" name="pill"/>
          <p:cNvSpPr/>
          <p:nvPr/>
        </p:nvSpPr>
        <p:spPr>
          <a:xfrm>
            <a:off x="822960" y="1920240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202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 client 1</a:t>
            </a:r>
            <a:endParaRPr lang="en-US" sz="1300" dirty="0"/>
          </a:p>
        </p:txBody>
      </p:sp>
      <p:sp>
        <p:nvSpPr>
          <p:cNvPr id="8" name="pill"/>
          <p:cNvSpPr/>
          <p:nvPr/>
        </p:nvSpPr>
        <p:spPr>
          <a:xfrm>
            <a:off x="822960" y="2395728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39572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 client 2</a:t>
            </a:r>
            <a:endParaRPr lang="en-US" sz="1300" dirty="0"/>
          </a:p>
        </p:txBody>
      </p:sp>
      <p:sp>
        <p:nvSpPr>
          <p:cNvPr id="10" name="pill"/>
          <p:cNvSpPr/>
          <p:nvPr/>
        </p:nvSpPr>
        <p:spPr>
          <a:xfrm>
            <a:off x="822960" y="2871216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87121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 client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MCP servers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Данные и сервисы</a:t>
            </a:r>
            <a:endParaRPr lang="en-US" sz="1700" dirty="0"/>
          </a:p>
        </p:txBody>
      </p:sp>
      <p:sp>
        <p:nvSpPr>
          <p:cNvPr id="14" name="arrow"/>
          <p:cNvSpPr/>
          <p:nvPr/>
        </p:nvSpPr>
        <p:spPr>
          <a:xfrm>
            <a:off x="3931920" y="2112264"/>
            <a:ext cx="1188720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5" name="server"/>
          <p:cNvSpPr/>
          <p:nvPr/>
        </p:nvSpPr>
        <p:spPr>
          <a:xfrm>
            <a:off x="5120640" y="1920240"/>
            <a:ext cx="3017520" cy="384048"/>
          </a:xfrm>
          <a:prstGeom prst="roundRect">
            <a:avLst>
              <a:gd name="adj" fmla="val 2381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Filesystem / Git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stdio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8138160" y="2112264"/>
            <a:ext cx="73152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915400" y="19202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файлы, репозиторий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3931920" y="2587752"/>
            <a:ext cx="1188720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20" name="server"/>
          <p:cNvSpPr/>
          <p:nvPr/>
        </p:nvSpPr>
        <p:spPr>
          <a:xfrm>
            <a:off x="5120640" y="2395728"/>
            <a:ext cx="3017520" cy="384048"/>
          </a:xfrm>
          <a:prstGeom prst="roundRect">
            <a:avLst>
              <a:gd name="adj" fmla="val 2381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395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ToDo server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stdio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138160" y="2587752"/>
            <a:ext cx="73152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915400" y="23957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БД приложения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3931920" y="3063240"/>
            <a:ext cx="1188720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25" name="server"/>
          <p:cNvSpPr/>
          <p:nvPr/>
        </p:nvSpPr>
        <p:spPr>
          <a:xfrm>
            <a:off x="5120640" y="2871216"/>
            <a:ext cx="3017520" cy="384048"/>
          </a:xfrm>
          <a:prstGeom prst="roundRect">
            <a:avLst>
              <a:gd name="adj" fmla="val 2381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8712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HTTP + OAuth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8138160" y="3063240"/>
            <a:ext cx="73152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915400" y="28712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GitHub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5478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Кто есть кто на примере Claude Code и нашего ToDo-сервера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58768"/>
          <a:ext cx="11277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5371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Code, IDE, n8n: программа, которую вы запустили. В ней же живёт связь с моделью, права и подтверждения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 кода host, не отдельная программа: по одному на каждый сервер из .mcp.json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отдельная программа: процесс uv run server.py на вашей машине или удалённый сервис GitHub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то, к чему сервер даёт доступ: БД ToDo, файлы, API GitHub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участник MCP: host передаёт ей список tools и получает от неё вызовы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1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2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Host контролирует, client общается, server адаптирует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Права и подтверждения живут в host, а не в сервере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Спецификация MCP: принципы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Официальная спецификация: </a:t>
            </a:r>
            <a:pPr algn="ctr" indent="0" marL="0">
              <a:buNone/>
            </a:pPr>
            <a:r>
              <a:rPr lang="en-US" sz="1600" u="sng" dirty="0">
                <a:solidFill>
                  <a:schemeClr val="accent1"/>
                </a:solidFill>
                <a:hlinkClick r:id="rId1" invalidUrl="" action="" tgtFrame="" tooltip="Спецификация MCP 2026-07-2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modelcontextprotocol.io/specification/2026-07-28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50876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85800" y="17099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Wren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182057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Серверы простые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Сложная оркестрация живёт в host. Сервер делает одну понятную вещь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50876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7099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LuLay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22" y="18205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Серверы комбинируются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Каждый сервер изолирован, их свободно сочетают через общий протокол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38160" y="150876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366760" y="170992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LuEy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402" y="182057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не видит лишнего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Вся история диалога остаётся в host. Сервер не видит переписку и другие серверы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361188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85800" y="3813048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con LuPack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" y="39236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767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Возможности добавляются постепенно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Минимальное ядро, остальное через capabilities и расширения, с обратной совместимостью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297680" y="361188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130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 LuServe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22" y="392369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767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Каждый запрос самодостаточен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Протокол без состояния: сервер легко масштабировать, любой экземпляр ответит на любой запрос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138160" y="3611880"/>
            <a:ext cx="3593592" cy="1938528"/>
          </a:xfrm>
          <a:prstGeom prst="roundRect">
            <a:avLst>
              <a:gd name="adj" fmla="val 5660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366760" y="3813048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con LuUs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402" y="3923690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3767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Решает пользователь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Явное согласие на доступ к данным и на вызов инструментов, понятный интерфейс подтверждений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35" name="icon LuTarge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Tool — это выполнение произвольного кода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Host обязан спросить пользователя перед вызовом, а описаниям от недоверенного сервера не доверяют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и MCP: два уровня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Модель не знает про MCP. Протокол работает между host и внешними сервисами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75564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 LuB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8662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7556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Модель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видит список tools и возвращает вызов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600200"/>
            <a:ext cx="2862072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846320" y="1755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LuB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18662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75564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Host: обвязка агента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3774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собирает tools, проверяет права, исполняет вызовы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9354312" y="160020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537192" y="17556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LuServ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834" y="18662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131552" y="17556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MCP-серверы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537192" y="2377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GitHub, БД, ToDo, Jira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2880360" y="2240280"/>
            <a:ext cx="1737360" cy="914"/>
          </a:xfrm>
          <a:prstGeom prst="line">
            <a:avLst/>
          </a:prstGeom>
          <a:noFill/>
          <a:ln w="22225">
            <a:solidFill>
              <a:srgbClr val="7B5CC4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 flipH="1">
            <a:off x="2880360" y="2606040"/>
            <a:ext cx="1737360" cy="914"/>
          </a:xfrm>
          <a:prstGeom prst="line">
            <a:avLst/>
          </a:prstGeom>
          <a:noFill/>
          <a:ln w="22225">
            <a:solidFill>
              <a:srgbClr val="7B5CC4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28803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function calling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7571232" y="2240280"/>
            <a:ext cx="173736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7571232" y="2606040"/>
            <a:ext cx="1737360" cy="914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7571232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MCP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4747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Уровень 1: модель ↔ host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731520" y="4023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tools передаются в каждом запросе к модели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модель отвечает блоком вызова (tool_use) вместо текста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формат свой у каждого провайдера: Anthropic, OpenAI, GigaChat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291072" y="34747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565392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Уровень 2: host ↔ серверы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6565392" y="4023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 узнаёт об инструментах через tools/list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вызывает их через tools/call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формат один для всех агентов и сервисов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2" name="icon Lu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 не заменяет function calling, а поставляет для него инструменты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Для модели MCP-инструмент — это tool с префиксом в имени, сам протокол она не видит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Примитивы протокола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Кто решает, когда ими пользоваться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Предоставляет сервер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457200" y="1828800"/>
            <a:ext cx="3593592" cy="1874520"/>
          </a:xfrm>
          <a:prstGeom prst="roundRect">
            <a:avLst>
              <a:gd name="adj" fmla="val 58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LuWren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21223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Tools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решает модель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действия: создать задачу, выполнить запрос, открыть страницу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297680" y="1828800"/>
            <a:ext cx="3593592" cy="1874520"/>
          </a:xfrm>
          <a:prstGeom prst="roundRect">
            <a:avLst>
              <a:gd name="adj" fmla="val 58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 LuFileTex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212232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Resources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решает host или пользователь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данные по URI: todo://tasks/42, схема БД, файл; в контекст их кладёт host, например по @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138160" y="1828800"/>
            <a:ext cx="3593592" cy="1874520"/>
          </a:xfrm>
          <a:prstGeom prst="roundRect">
            <a:avLst>
              <a:gd name="adj" fmla="val 58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 LuScrollTex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212232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Prompts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решает пользователь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шаблоны сообщений, которые пользователь вызывает как slash-команду: /review-pr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Предоставляет клиент (сервер просит в ответе, клиент повторяет запрос)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457200" y="4206240"/>
            <a:ext cx="3593592" cy="1371600"/>
          </a:xfrm>
          <a:prstGeom prst="roundRect">
            <a:avLst>
              <a:gd name="adj" fmla="val 8000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685800" y="437083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con LuMessageSqua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47141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4370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Elicitation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4892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сервер запрашивает у пользователя недостающие данные</a:t>
            </a:r>
            <a:endParaRPr lang="en-US" sz="1400" dirty="0"/>
          </a:p>
        </p:txBody>
      </p:sp>
      <p:sp>
        <p:nvSpPr>
          <p:cNvPr id="26" name="deprecated card"/>
          <p:cNvSpPr/>
          <p:nvPr/>
        </p:nvSpPr>
        <p:spPr>
          <a:xfrm>
            <a:off x="4297680" y="4206240"/>
            <a:ext cx="359359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icon circle"/>
          <p:cNvSpPr/>
          <p:nvPr/>
        </p:nvSpPr>
        <p:spPr>
          <a:xfrm>
            <a:off x="4526280" y="4370832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28" name="icon LuSparkl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47141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20640" y="4370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Sampling (deprecated)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892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сервер просил host вызвать LLM за него; теперь сервер сам вызывает API LLM</a:t>
            </a:r>
            <a:endParaRPr lang="en-US" sz="1400" dirty="0"/>
          </a:p>
        </p:txBody>
      </p:sp>
      <p:sp>
        <p:nvSpPr>
          <p:cNvPr id="31" name="deprecated card"/>
          <p:cNvSpPr/>
          <p:nvPr/>
        </p:nvSpPr>
        <p:spPr>
          <a:xfrm>
            <a:off x="8138160" y="4206240"/>
            <a:ext cx="359359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icon circle"/>
          <p:cNvSpPr/>
          <p:nvPr/>
        </p:nvSpPr>
        <p:spPr>
          <a:xfrm>
            <a:off x="8366760" y="4370832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33" name="icon LuFolde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47141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61120" y="4370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Roots (deprecated)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366760" y="4892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список разрешённых папок; теперь пути передают в параметрах</a:t>
            </a:r>
            <a:endParaRPr lang="en-US" sz="1400" dirty="0"/>
          </a:p>
        </p:txBody>
      </p:sp>
      <p:sp>
        <p:nvSpPr>
          <p:cNvPr id="36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7" name="icon LuTarge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Чаще всего используют tools. Resources и prompts часто забывают, а зря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Tools: действия, которые выбирает модель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Самый используемый примитив: всё, что меняет мир или требует вычисления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закрыть задачу в ToDo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Host получает список инструментов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tools/list: add_task, complete_task, delete_task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Пользователь просит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«Отметь задачу про отчёт выполненной»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Модель выбирает инструмент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вызывает complete_task с аргументом id: 42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выполняет и отвечает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меняет БД и возвращает результат или ошибку с isError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Описание инструмента в ответе tools/list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6291072" y="1755648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9280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"delete_task",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"description": "Удаляет задачу по id",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"inputSchema": {"type": "object",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{"id": {"type": "integer"}},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 ["id"]},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"annotations": {"destructiveHint": true}}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6291072" y="3721608"/>
            <a:ext cx="5440680" cy="1856232"/>
          </a:xfrm>
          <a:prstGeom prst="roundRect">
            <a:avLst>
              <a:gd name="adj" fmla="val 591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Что ещё есть у tool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206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annotations: подсказки «только чтение», «разрушает», «идемпотентно»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outputSchema и structuredContent для типизированного ответа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подсказкам от недоверенного сервера не доверяют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Tool — это действие: решает модель, разрешает host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 destructiveHint host может спросить подтверждение перед удалением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Resources: данные для контекста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Содержимое по адресу (URI) без побочных эффектов; в контекст его кладёт host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показать агенту задачу 42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публикует ресурсы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resources/list: todo://tasks/42, todo://schema; шаблон todo://tasks/{id}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Пользователь выбирает ресурс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Claude Code пишет @ и выбирает todo://tasks/42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Host читает и кладёт в контекст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resources/read, содержимое уходит модели вместе с вопросом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Ресурс изменился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сервер присылает уведомление через subscriptions/listen, host перечитывает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Ответ на resources/read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6291072" y="1755648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9280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{"contents":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"uri": "todo://tasks/42",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"mimeType": "text/plain",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"text": "Отчёт. Не выполнена.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Дедлайн 2026-10-25"}]}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6291072" y="3721608"/>
            <a:ext cx="5440680" cy="1856232"/>
          </a:xfrm>
          <a:prstGeom prst="roundRect">
            <a:avLst>
              <a:gd name="adj" fmla="val 591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Resource или tool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206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resource: данные без побочных эффектов, выбирает человек или host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tool: действие или поиск, о котором решает модель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примеры ресурсов: схема БД, конфиг, лог сборки, страница документации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Resource — это контекст, а не действие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Модель не тратит шаг на получение данных: их заранее положил host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Prompts: готовые сценарии от сервера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Шаблоны сообщений, которые пользователь вызывает явно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спланировать день по задачам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публикует шаблоны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prompts/list: plan_day с аргументом date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Host показывает их как команды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Claude Code это /mcp__todo__plan_day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Пользователь вызывает команду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 запрашивает prompts/get с date = 2026-10-22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собирает сообщение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подставляет свежие задачи, сообщение уходит модели как обычный запрос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Ответ на prompts/get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6291072" y="1755648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9280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{"description": "План на день",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"messages": [{"role":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{"type": "text",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"text": "Открытые задачи на 2026-10-22: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Составь план дня с учётом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приоритетов и дедлайнов."}}]}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6291072" y="3721608"/>
            <a:ext cx="5440680" cy="1856232"/>
          </a:xfrm>
          <a:prstGeom prst="roundRect">
            <a:avLst>
              <a:gd name="adj" fmla="val 591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Prompt или skill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206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вызывает пользователь, skill модель подгружает сама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живёт на сервере и подставляет актуальные данные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 сути это slash-команда, которую поставляет сервер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Prompt — способ сервера поделиться лучшим сценарием работы с собой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Elicitation: сервер спрашивает пользователя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Единственная клиентская возможность, которая остаётся в спецификации без пометки deprecated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удаление задачи в ToDo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Агент вызывает delete_task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решила удалить задачу 42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Сервер просит подтверждение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отвечает input_required с формой «Удалить задачу „Отчёт“?»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Клиент показывает форму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пользователь выбирает: принять, отклонить или закрыть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Клиент повторяет вызов с ответом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сервер видит accept и удаляет, на decline или cancel — нет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291072" y="146304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6519672" y="162763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icon LuListChec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1728216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114032" y="1673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Form: форма в клиенте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519672" y="22128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плоская схема: строка, число, да/нет, выбор из списка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ответ видит клиент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нельзя просить пароли, API-ключи, токены и платёжные данные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291072" y="361188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6519672" y="37764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 LuGlob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87705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14032" y="3822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URL: страница в браузере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6519672" y="436168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ввод API-ключа, OAuth к стороннему сервису, оплата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данные идут сразу на сервер, мимо клиента и модели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клиент показывает полный адрес и открывает только с согласия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8" name="icon Lu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Elicitation спрашивает человека, а не модель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Клиент обязан показать, какой сервер спрашивает, и дать возможность отказаться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Sampling: сервер просит LLM у host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Помечено deprecated в спецификации 2026-07-28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краткая сводка по задачам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Агент вызывает summarize_tasks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сервер должен вернуть сводку, но своей модели у него нет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Сервер просит сгенерировать текст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отвечает input_required с запросом sampling/createMessage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Host вызывает свою модель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с согласия пользователя и за его счёт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Клиент повторяет вызов с ответом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сервер получает текст модели и возвращает сводку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Запрос внутри input_required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6291072" y="1755648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9280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"summary":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"sampling/createMessage",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"messages": [{"role": "user", "content":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{"type": "text",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"text": "Кратко перескажи задачи: ..."}}],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"maxTokens": 300}}</a:t>
            </a:r>
            <a:endParaRPr lang="en-US" sz="1200" dirty="0"/>
          </a:p>
        </p:txBody>
      </p:sp>
      <p:sp>
        <p:nvSpPr>
          <p:cNvPr id="20" name="deprecated card"/>
          <p:cNvSpPr/>
          <p:nvPr/>
        </p:nvSpPr>
        <p:spPr>
          <a:xfrm>
            <a:off x="6291072" y="3721608"/>
            <a:ext cx="5440680" cy="1856232"/>
          </a:xfrm>
          <a:prstGeom prst="roundRect">
            <a:avLst>
              <a:gd name="adj" fmla="val 59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Что теперь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206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сервер сам вызывает API модели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идея была в том, чтобы серверу не нужен был свой ключ и выбор модели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пока работает, но удалить могут в любой версии спецификации от 28.07.2027 и позже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Сервер, которому нужна LLM, теперь вызывает её сам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Через прямую интеграцию с API провайдера, а не через модель пользователя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Roots: границы рабочей области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Помечено deprecated в спецификации 2026-07-28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Пример: файловый сервер в IDE</a:t>
            </a:r>
            <a:endParaRPr lang="en-US" sz="1700" dirty="0"/>
          </a:p>
        </p:txBody>
      </p:sp>
      <p:sp>
        <p:nvSpPr>
          <p:cNvPr id="5" name="number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Пользователь открывает проект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в IDE открыт /home/dev/todo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Серверу нужно знать границы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он запрашивает у клиента roots/list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Клиент отвечает списком папок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file:///home/dev/todo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Сервер работает только там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ищет и читает файлы внутри этих папок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Ответ клиента на roots/list</a:t>
            </a:r>
            <a:endParaRPr lang="en-US" sz="1300" dirty="0"/>
          </a:p>
        </p:txBody>
      </p:sp>
      <p:sp>
        <p:nvSpPr>
          <p:cNvPr id="18" name="code block"/>
          <p:cNvSpPr/>
          <p:nvPr/>
        </p:nvSpPr>
        <p:spPr>
          <a:xfrm>
            <a:off x="6291072" y="1755648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9280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{"roots":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"uri": "file:///home/dev/todo",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"name": "ToDo project"}]}</a:t>
            </a:r>
            <a:endParaRPr lang="en-US" sz="1200" dirty="0"/>
          </a:p>
        </p:txBody>
      </p:sp>
      <p:sp>
        <p:nvSpPr>
          <p:cNvPr id="20" name="deprecated card"/>
          <p:cNvSpPr/>
          <p:nvPr/>
        </p:nvSpPr>
        <p:spPr>
          <a:xfrm>
            <a:off x="6291072" y="3721608"/>
            <a:ext cx="5440680" cy="1856232"/>
          </a:xfrm>
          <a:prstGeom prst="roundRect">
            <a:avLst>
              <a:gd name="adj" fmla="val 59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Что теперь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206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путь передают аргументом tool, URI ресурса или в конфиге сервера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roots были подсказкой, а не ограничением: сервер мог их игнорировать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настоящие границы задают права процесса и песочница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Границы доступа задаёт окружение, а не протокол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Для файлового сервера это права процесса, песочница и аргументы запуска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 взаимодействие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JSON-RPC 2.0 без сессий: каждый запрос самодостаточен</a:t>
            </a:r>
            <a:endParaRPr lang="en-US" sz="1600" dirty="0"/>
          </a:p>
        </p:txBody>
      </p:sp>
      <p:sp>
        <p:nvSpPr>
          <p:cNvPr id="4" name="number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server/discover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необязательно: клиент узнаёт версии и возможности сервера</a:t>
            </a:r>
            <a:endParaRPr lang="en-US" sz="1400" dirty="0"/>
          </a:p>
        </p:txBody>
      </p:sp>
      <p:sp>
        <p:nvSpPr>
          <p:cNvPr id="8" name="number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4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инструменты со схемами для контекста модели, ответ можно кэшировать (ttlMs)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457200" y="369417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027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tools/call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684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вызов с аргументами, в _meta версия протокола и capabilities клиента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457200" y="471830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26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input_required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926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серверу не хватает данных: клиент спрашивает пользователя и повторяет запрос</a:t>
            </a:r>
            <a:endParaRPr lang="en-US" sz="1400" dirty="0"/>
          </a:p>
        </p:txBody>
      </p:sp>
      <p:sp>
        <p:nvSpPr>
          <p:cNvPr id="20" name="code block"/>
          <p:cNvSpPr/>
          <p:nvPr/>
        </p:nvSpPr>
        <p:spPr>
          <a:xfrm>
            <a:off x="5669280" y="1554480"/>
            <a:ext cx="6062472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1691640"/>
            <a:ext cx="56967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{"jsonrpc":"2.0","id":3,"method":"tools/call",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"params":{"name":"delete_task",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"arguments":{"id":42},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"_meta":{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"io.modelcontextprotocol/protocolVersion":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"2026-07-28",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"io.modelcontextprotocol/clientCapabilities":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{"elicitation":{}}}}}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{"id":3,"result":{"resultType":"input_required",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"inputRequests":{"confirm":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{"method":"elicitation/create", ...}},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"requestState":"&lt;подписанный blob&gt;"}}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{"id":4,"method":"tools/call", ...тот же вызов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"inputResponses":{"confirm":{"action":"accept"}}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"requestState":"&lt;тот же blob&gt;"}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{"id":4,"result":{"resultType":"complete",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"content":[...],"isError":false}}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3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Ошибку инструмента возвращают как результат с isError, чтобы модель могла её исправить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Недостающие данные сервер запрашивает ответом input_required, а не отдельным запросом к клиенту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Транспорты и авторизация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Где живёт сервер и как к нему подключиться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LuTermin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stdio: локальный сервер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603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host запускает сервер как дочерний процесс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сообщения идут через stdin/stdout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доступ к локальным файлам, git, БД разработчика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секреты передаются через переменные окружения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один пользователь, одна машина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91072" y="160020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65392" y="1783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 LuClou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51192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Streamable HTTP: удалённый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65392" y="25603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сервер работает как веб-сервис, один endpoint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без сессий: любой экземпляр сервера обработает любой запрос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авторизация по OAuth 2.1, сервер выступает resource server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подходит для SaaS и корпоративных сервисов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старый транспорт HTTP+SSE помечен deprecated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5" name="icon Lu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Локальный сервер выполняет код на вашей машине с вашими правами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Устанавливайте только серверы, которым доверяете, и фиксируйте их версии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Демо: MCP-сервер для ToDo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SDK, FastMCP, около 20 строк</a:t>
            </a:r>
            <a:endParaRPr lang="en-US" sz="1600" dirty="0"/>
          </a:p>
        </p:txBody>
      </p:sp>
      <p:sp>
        <p:nvSpPr>
          <p:cNvPr id="4" name="code block"/>
          <p:cNvSpPr/>
          <p:nvPr/>
        </p:nvSpPr>
        <p:spPr>
          <a:xfrm>
            <a:off x="457200" y="1463040"/>
            <a:ext cx="6400800" cy="4160520"/>
          </a:xfrm>
          <a:prstGeom prst="roundRect">
            <a:avLst>
              <a:gd name="adj" fmla="val 17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60350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FastMCP("todo")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tasks: list[dict] = []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add_task(title: str) -&gt; dict: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"""Добавляет задачу. Пробелы по краям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удаляются, пустое название запрещено."""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title.strip()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title: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ValueError("Название не может быть пустым")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 = {"id": len(tasks) + 1, "title": title}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tasks.append(task)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task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list_tasks() -&gt; list[dict]: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"""Возвращает все задачи."""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tasks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mcp.run()  # stdio</a:t>
            </a:r>
            <a:endParaRPr lang="en-US" sz="1100" dirty="0"/>
          </a:p>
        </p:txBody>
      </p:sp>
      <p:sp>
        <p:nvSpPr>
          <p:cNvPr id="6" name="number"/>
          <p:cNvSpPr/>
          <p:nvPr/>
        </p:nvSpPr>
        <p:spPr>
          <a:xfrm>
            <a:off x="717804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4630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Запускаем Inspector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@modelcontextprotocol/inspector uv run server.py</a:t>
            </a:r>
            <a:endParaRPr lang="en-US" sz="1500" dirty="0"/>
          </a:p>
        </p:txBody>
      </p:sp>
      <p:sp>
        <p:nvSpPr>
          <p:cNvPr id="9" name="number"/>
          <p:cNvSpPr/>
          <p:nvPr/>
        </p:nvSpPr>
        <p:spPr>
          <a:xfrm>
            <a:off x="717804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780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514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Проверяем контракт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вызываем add_task с пустой строкой и пробелами</a:t>
            </a:r>
            <a:endParaRPr lang="en-US" sz="1500" dirty="0"/>
          </a:p>
        </p:txBody>
      </p:sp>
      <p:sp>
        <p:nvSpPr>
          <p:cNvPr id="12" name="number"/>
          <p:cNvSpPr/>
          <p:nvPr/>
        </p:nvSpPr>
        <p:spPr>
          <a:xfrm>
            <a:off x="7178040" y="3611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566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Подключаем к агенту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 просим: «добавь три задачи на завтра»</a:t>
            </a:r>
            <a:endParaRPr lang="en-US" sz="1500" dirty="0"/>
          </a:p>
        </p:txBody>
      </p:sp>
      <p:sp>
        <p:nvSpPr>
          <p:cNvPr id="15" name="number"/>
          <p:cNvSpPr/>
          <p:nvPr/>
        </p:nvSpPr>
        <p:spPr>
          <a:xfrm>
            <a:off x="7178040" y="4663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4617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Смотрим лог вызовов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какие инструменты и с какими аргументами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9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Docstring и аннотации типов автоматически становятся описанием и JSON Schema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Подключаем сервер к агенту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Конфигурация лежит в репозитории, и вся команда получает одинаковый набор инструментов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 Code</a:t>
            </a:r>
            <a:endParaRPr lang="en-US" sz="1800" dirty="0"/>
          </a:p>
        </p:txBody>
      </p:sp>
      <p:sp>
        <p:nvSpPr>
          <p:cNvPr id="5" name="code block"/>
          <p:cNvSpPr/>
          <p:nvPr/>
        </p:nvSpPr>
        <p:spPr>
          <a:xfrm>
            <a:off x="457200" y="1920240"/>
            <a:ext cx="3593592" cy="3611880"/>
          </a:xfrm>
          <a:prstGeom prst="roundRect">
            <a:avLst>
              <a:gd name="adj" fmla="val 20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322783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todo --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 run server.py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.mcp.json в корне проекта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{"mcpServers": {"todo":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"uv",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["run","server.py"]}}}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5087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OpenCode</a:t>
            </a:r>
            <a:endParaRPr lang="en-US" sz="1800" dirty="0"/>
          </a:p>
        </p:txBody>
      </p:sp>
      <p:sp>
        <p:nvSpPr>
          <p:cNvPr id="8" name="code block"/>
          <p:cNvSpPr/>
          <p:nvPr/>
        </p:nvSpPr>
        <p:spPr>
          <a:xfrm>
            <a:off x="4297680" y="1920240"/>
            <a:ext cx="3593592" cy="3611880"/>
          </a:xfrm>
          <a:prstGeom prst="roundRect">
            <a:avLst>
              <a:gd name="adj" fmla="val 20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057400"/>
            <a:ext cx="322783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opencode.json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{"mcp": {"todo":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"local",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["uv","run",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"server.py"],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"enabled": true}}}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5087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VS Code, GigaCode CLI</a:t>
            </a:r>
            <a:endParaRPr lang="en-US" sz="1800" dirty="0"/>
          </a:p>
        </p:txBody>
      </p:sp>
      <p:sp>
        <p:nvSpPr>
          <p:cNvPr id="11" name="code block"/>
          <p:cNvSpPr/>
          <p:nvPr/>
        </p:nvSpPr>
        <p:spPr>
          <a:xfrm>
            <a:off x="8138160" y="1920240"/>
            <a:ext cx="3593592" cy="3611880"/>
          </a:xfrm>
          <a:prstGeom prst="roundRect">
            <a:avLst>
              <a:gd name="adj" fmla="val 20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057400"/>
            <a:ext cx="322783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.vscode/mcp.json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{"servers": {"todo":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"uv",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["run","server.py"]}}}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GigaCode CLI: блок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mcpServers в settings.json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Конфиг MCP в репозитории — часть проекта, как requirements.txt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Секреты в него не кладём: только переменные окружения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агент знает про MCP-инструменты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конфиге прописан только сервер. Об инструментах сервер рассказывает сам</a:t>
            </a:r>
            <a:endParaRPr lang="en-US" sz="1600" dirty="0"/>
          </a:p>
        </p:txBody>
      </p:sp>
      <p:sp>
        <p:nvSpPr>
          <p:cNvPr id="4" name="number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813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Конфиг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только как запустить сервер: команда, аргументы, env или URL</a:t>
            </a:r>
            <a:endParaRPr lang="en-US" sz="1500" dirty="0"/>
          </a:p>
        </p:txBody>
      </p:sp>
      <p:sp>
        <p:nvSpPr>
          <p:cNvPr id="7" name="number"/>
          <p:cNvSpPr/>
          <p:nvPr/>
        </p:nvSpPr>
        <p:spPr>
          <a:xfrm>
            <a:off x="457200" y="22219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671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Подключение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host запускает процесс (stdio) или подключается по HTTP</a:t>
            </a:r>
            <a:endParaRPr lang="en-US" sz="1500" dirty="0"/>
          </a:p>
        </p:txBody>
      </p:sp>
      <p:sp>
        <p:nvSpPr>
          <p:cNvPr id="10" name="number"/>
          <p:cNvSpPr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529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Сервер рассказывает о себе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 tools/list отдаёт имена, описания и схемы, их пишет автор сервера</a:t>
            </a:r>
            <a:endParaRPr lang="en-US" sz="1500" dirty="0"/>
          </a:p>
        </p:txBody>
      </p:sp>
      <p:sp>
        <p:nvSpPr>
          <p:cNvPr id="13" name="number"/>
          <p:cNvSpPr/>
          <p:nvPr/>
        </p:nvSpPr>
        <p:spPr>
          <a:xfrm>
            <a:off x="457200" y="35935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5387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Преобразование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host добавляет префикс сервера: mcp__todo__add_task</a:t>
            </a:r>
            <a:endParaRPr lang="en-US" sz="1500" dirty="0"/>
          </a:p>
        </p:txBody>
      </p:sp>
      <p:sp>
        <p:nvSpPr>
          <p:cNvPr id="16" name="number"/>
          <p:cNvSpPr/>
          <p:nvPr/>
        </p:nvSpPr>
        <p:spPr>
          <a:xfrm>
            <a:off x="457200" y="42793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224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Запрос к модели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MCP-инструменты идут вместе со встроенными, способ зависит от агента</a:t>
            </a:r>
            <a:endParaRPr lang="en-US" sz="1500" dirty="0"/>
          </a:p>
        </p:txBody>
      </p:sp>
      <p:sp>
        <p:nvSpPr>
          <p:cNvPr id="19" name="number"/>
          <p:cNvSpPr/>
          <p:nvPr/>
        </p:nvSpPr>
        <p:spPr>
          <a:xfrm>
            <a:off x="457200" y="49651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965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9103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Обновление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сервер сообщает, что список изменился, host перечитывает его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14173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.mcp.json: только сервер, ни слова об инструментах</a:t>
            </a:r>
            <a:endParaRPr lang="en-US" sz="1300" dirty="0"/>
          </a:p>
        </p:txBody>
      </p:sp>
      <p:sp>
        <p:nvSpPr>
          <p:cNvPr id="23" name="code block"/>
          <p:cNvSpPr/>
          <p:nvPr/>
        </p:nvSpPr>
        <p:spPr>
          <a:xfrm>
            <a:off x="6263640" y="1691640"/>
            <a:ext cx="546811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182880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{"mcpServers": {"todo":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"uv", "args": ["run", "server.py"]}}}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5603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Ответ сервера на tools/list (из docstring и типов в FastMCP)</a:t>
            </a:r>
            <a:endParaRPr lang="en-US" sz="1300" dirty="0"/>
          </a:p>
        </p:txBody>
      </p:sp>
      <p:sp>
        <p:nvSpPr>
          <p:cNvPr id="26" name="code block"/>
          <p:cNvSpPr/>
          <p:nvPr/>
        </p:nvSpPr>
        <p:spPr>
          <a:xfrm>
            <a:off x="6263640" y="2834640"/>
            <a:ext cx="5468112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297180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[{"name": "add_task",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"Добавляет задачу...",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"inputSchema": {"type": "object", ...}},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{"name": "list_tasks", ...}]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06908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Что получает модель</a:t>
            </a:r>
            <a:endParaRPr lang="en-US" sz="1300" dirty="0"/>
          </a:p>
        </p:txBody>
      </p:sp>
      <p:sp>
        <p:nvSpPr>
          <p:cNvPr id="29" name="code block"/>
          <p:cNvSpPr/>
          <p:nvPr/>
        </p:nvSpPr>
        <p:spPr>
          <a:xfrm>
            <a:off x="6263640" y="4343400"/>
            <a:ext cx="5468112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480560"/>
            <a:ext cx="5102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"Bash", ...},          // встроенный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"mcp__todo__add_task", // из MCP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"description": "...", "input_schema": {...}}]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2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Конфиг говорит, где сервер. Какие у него инструменты, сервер сообщает сам при подключении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Поэтому обновление сервера может поменять набор инструментов без правки конфига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агенты вызывают MCP-инструменты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Протокол один, а то, как инструмент показывают модели, у каждого агента своё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508760"/>
            <a:ext cx="3593592" cy="4114800"/>
          </a:xfrm>
          <a:prstGeom prst="roundRect">
            <a:avLst>
              <a:gd name="adj" fmla="val 305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64592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Прямой вызов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Описания всех MCP-инструментов сразу лежат в tools запроса. Модель вызывает инструмент по имени.</a:t>
            </a:r>
            <a:endParaRPr lang="en-US" sz="1400" dirty="0"/>
          </a:p>
        </p:txBody>
      </p:sp>
      <p:sp>
        <p:nvSpPr>
          <p:cNvPr id="9" name="code block"/>
          <p:cNvSpPr/>
          <p:nvPr/>
        </p:nvSpPr>
        <p:spPr>
          <a:xfrm>
            <a:off x="640080" y="3291840"/>
            <a:ext cx="322783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2862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mcp__todo__add_task(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{"title": "Отчёт"})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00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просто, но дорого по контексту: каждое описание в каждом запросе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297680" y="1508760"/>
            <a:ext cx="3593592" cy="4114800"/>
          </a:xfrm>
          <a:prstGeom prst="roundRect">
            <a:avLst>
              <a:gd name="adj" fmla="val 305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4526280" y="16459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Поиск, затем прямой вызов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контексте только имена. Модель находит инструмент через поиск, обвязка подгружает схему, дальше обычный вызов.</a:t>
            </a:r>
            <a:endParaRPr lang="en-US" sz="1400" dirty="0"/>
          </a:p>
        </p:txBody>
      </p:sp>
      <p:sp>
        <p:nvSpPr>
          <p:cNvPr id="17" name="code block"/>
          <p:cNvSpPr/>
          <p:nvPr/>
        </p:nvSpPr>
        <p:spPr>
          <a:xfrm>
            <a:off x="4480560" y="3291840"/>
            <a:ext cx="322783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429000"/>
            <a:ext cx="2862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ToolSearch(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"select:mcp__todo__add_task")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mcp__todo__add_task(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{"title": "Отчёт"})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800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Claude Code: включается сам, когда описания MCP занимают больше ~10% контекста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8138160" y="1508760"/>
            <a:ext cx="3593592" cy="4114800"/>
          </a:xfrm>
          <a:prstGeom prst="roundRect">
            <a:avLst>
              <a:gd name="adj" fmla="val 305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1" name="number"/>
          <p:cNvSpPr/>
          <p:nvPr/>
        </p:nvSpPr>
        <p:spPr>
          <a:xfrm>
            <a:off x="8366760" y="16459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Поиск и обёртка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находит инструмент через tool_search и вызывает его через общий tool_call. Обвязка разворачивает обёртку перед проверкой прав.</a:t>
            </a:r>
            <a:endParaRPr lang="en-US" sz="1400" dirty="0"/>
          </a:p>
        </p:txBody>
      </p:sp>
      <p:sp>
        <p:nvSpPr>
          <p:cNvPr id="25" name="code block"/>
          <p:cNvSpPr/>
          <p:nvPr/>
        </p:nvSpPr>
        <p:spPr>
          <a:xfrm>
            <a:off x="8321040" y="3291840"/>
            <a:ext cx="322783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3429000"/>
            <a:ext cx="2862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tool_search(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"select:mcp__todo__add_task")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"mcp__todo__add_task",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"arguments":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{"title": "Отчёт"}})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800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Qwen Code: список tools не меняется, кэш промпта не сбрасывается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9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 описывает связь агента с сервером, а то, как инструмент видит модель, решает обвязка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Один и тот же MCP-сервер в разных агентах вызывается по-разному и стоит разное число токенов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Встроенные инструменты и MCP-инструменты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Что меняется, когда инструмент приходит из MCP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651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Встроенный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MCP-tool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Bash, Read, 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mcp__github__create_issue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Откуда описание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встроено в агента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приходит от MCP-сервера (tools/list)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исполняется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процессе агента, на вашей машине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MCP-сервере: локальный процесс или удалённый сервис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вызывается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прямой вызов функции агента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 tools/call через MCP-клиент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внутренний формат агента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content, structuredContent, isError, host переводит для модели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разрешения агента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разрешения агента и права токена сервера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может сломаться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 завершилась с ошибкой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плюс сеть, таймауты, рейт-лимиты, смена версии сервера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6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Host направляет вызов по имени: встроенный выполняет сам, MCP отправляет нужному серверу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Ошибки сервера возвращаются модели так же, как ошибки встроенных инструментов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Экосистема серверов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Многие сервисы уже публикуют официальные MCP-серверы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GitBran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Код и Git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GitHub, GitLab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19272" y="160020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547872" y="18288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con LuGlob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33672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Браузер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Playwright, Chrome DevTools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81344" y="160020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409944" y="1828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LuBookO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9495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95744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Документация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Context7, документация вендоров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43416" y="160020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9272016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on LuDatab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717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57816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Данные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PostgreSQL, SQLite, ClickHouse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57200" y="36118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685800" y="3840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 LuSquareKan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396118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Трекеры и вики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4526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Jira, Confluence, Linear, Notion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3319272" y="36118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3547872" y="3840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con LuFigm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573" y="396118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33672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Дизайн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547872" y="4526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Figma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6181344" y="36118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5" name="icon circle"/>
          <p:cNvSpPr/>
          <p:nvPr/>
        </p:nvSpPr>
        <p:spPr>
          <a:xfrm>
            <a:off x="6409944" y="3840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con LuBug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645" y="396118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95744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Наблюдаемость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6409944" y="4526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Sentry, Grafana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9043416" y="36118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0" name="icon circle"/>
          <p:cNvSpPr/>
          <p:nvPr/>
        </p:nvSpPr>
        <p:spPr>
          <a:xfrm>
            <a:off x="9272016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con LuServe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2717" y="3961181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957816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Свои сервисы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9272016" y="4526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внутренние API компании</a:t>
            </a:r>
            <a:endParaRPr lang="en-US" sz="1400" dirty="0"/>
          </a:p>
        </p:txBody>
      </p:sp>
      <p:sp>
        <p:nvSpPr>
          <p:cNvPr id="4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5" name="icon LuTarge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Перед подключением сервера проверьте: кто автор, какие права, какие инструменты пишут данные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в реальности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Контекст, обвязка агента, эксплуатация и безопасность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не бесплатный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Описание каждого подключённого инструмента лежит в контексте ещё до первого вопроса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120640" cy="3931920"/>
          </a:xfrm>
          <a:prstGeom prst="roundRect">
            <a:avLst>
              <a:gd name="adj" fmla="val 279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Что происходит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серверов по 20 инструментов — это 100 описаний со схемами в каждом запросе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чем больше похожих инструментов, тем чаще модель выбирает не тот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длинные ответы инструментов (JSON на тысячи строк) вытесняют полезный контекст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каждый вызов — это шаг агента, время и токены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879592" y="1600200"/>
            <a:ext cx="5852160" cy="3931920"/>
          </a:xfrm>
          <a:prstGeom prst="roundRect">
            <a:avLst>
              <a:gd name="adj" fmla="val 279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53912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Что с этим делать</a:t>
            </a:r>
            <a:endParaRPr lang="en-US" sz="1700" dirty="0"/>
          </a:p>
        </p:txBody>
      </p:sp>
      <p:sp>
        <p:nvSpPr>
          <p:cNvPr id="9" name="icon circle"/>
          <p:cNvSpPr/>
          <p:nvPr/>
        </p:nvSpPr>
        <p:spPr>
          <a:xfrm>
            <a:off x="6153912" y="224028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 LuFilt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0473" y="2336841"/>
            <a:ext cx="245791" cy="2457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7208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подключать только нужное для задачи, а не всё подряд</a:t>
            </a:r>
            <a:endParaRPr lang="en-US" sz="1500" dirty="0"/>
          </a:p>
        </p:txBody>
      </p:sp>
      <p:sp>
        <p:nvSpPr>
          <p:cNvPr id="12" name="icon circle"/>
          <p:cNvSpPr/>
          <p:nvPr/>
        </p:nvSpPr>
        <p:spPr>
          <a:xfrm>
            <a:off x="6153912" y="288036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 Lu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473" y="2976921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2084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иерархия: сначала область, потом инструмент (дальше)</a:t>
            </a:r>
            <a:endParaRPr lang="en-US" sz="1500" dirty="0"/>
          </a:p>
        </p:txBody>
      </p:sp>
      <p:sp>
        <p:nvSpPr>
          <p:cNvPr id="15" name="icon circle"/>
          <p:cNvSpPr/>
          <p:nvPr/>
        </p:nvSpPr>
        <p:spPr>
          <a:xfrm>
            <a:off x="6153912" y="352044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LuScrollTex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473" y="361700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краткие ответы: пагинация, фильтры, только нужные поля</a:t>
            </a:r>
            <a:endParaRPr lang="en-US" sz="1500" dirty="0"/>
          </a:p>
        </p:txBody>
      </p:sp>
      <p:sp>
        <p:nvSpPr>
          <p:cNvPr id="18" name="icon circle"/>
          <p:cNvSpPr/>
          <p:nvPr/>
        </p:nvSpPr>
        <p:spPr>
          <a:xfrm>
            <a:off x="6153912" y="416052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con LuTermi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473" y="4257081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 вместо MCP, если агент и так умеет терминал (gh, psql)</a:t>
            </a:r>
            <a:endParaRPr lang="en-US" sz="1500" dirty="0"/>
          </a:p>
        </p:txBody>
      </p:sp>
      <p:sp>
        <p:nvSpPr>
          <p:cNvPr id="21" name="icon circle"/>
          <p:cNvSpPr/>
          <p:nvPr/>
        </p:nvSpPr>
        <p:spPr>
          <a:xfrm>
            <a:off x="6153912" y="480060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con LuSer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473" y="4897161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2084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gateway с allowlist инструментов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5" name="icon LuTarge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 engineering начинается с выбора инструментов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Подробно про управление контекстом поговорим в теме 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Иерархические инструменты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Вместо плоского списка из сотен инструментов модель выбирает сначала область, потом действие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Плоский список: 100 описаний в каждом запросе</a:t>
            </a:r>
            <a:endParaRPr lang="en-US" sz="1300" dirty="0"/>
          </a:p>
        </p:txBody>
      </p:sp>
      <p:sp>
        <p:nvSpPr>
          <p:cNvPr id="5" name="code block"/>
          <p:cNvSpPr/>
          <p:nvPr/>
        </p:nvSpPr>
        <p:spPr>
          <a:xfrm>
            <a:off x="45720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calendar_create_event   email_send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calendar_update_event   email_search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calendar_delete_event   email_reply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crm_update_deal         crm_find_customer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ещё 90 похожих инструментов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Иерархия: несколько верхнеуровневых инструментов</a:t>
            </a:r>
            <a:endParaRPr lang="en-US" sz="1300" dirty="0"/>
          </a:p>
        </p:txBody>
      </p:sp>
      <p:sp>
        <p:nvSpPr>
          <p:cNvPr id="8" name="code block"/>
          <p:cNvSpPr/>
          <p:nvPr/>
        </p:nvSpPr>
        <p:spPr>
          <a:xfrm>
            <a:off x="457200" y="3566160"/>
            <a:ext cx="548640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033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calendar(action, args)   email(action, 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crm(action, args)        analytics(action, args)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calendar(action="create_event",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args={"title": "Созвон", "start": "..."})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263640" y="1463040"/>
            <a:ext cx="5468112" cy="4069080"/>
          </a:xfrm>
          <a:prstGeom prst="roundRect">
            <a:avLst>
              <a:gd name="adj" fmla="val 269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Как это делают</a:t>
            </a:r>
            <a:endParaRPr lang="en-US" sz="1700" dirty="0"/>
          </a:p>
        </p:txBody>
      </p:sp>
      <p:sp>
        <p:nvSpPr>
          <p:cNvPr id="12" name="number"/>
          <p:cNvSpPr/>
          <p:nvPr/>
        </p:nvSpPr>
        <p:spPr>
          <a:xfrm>
            <a:off x="6537960" y="21031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57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Инструмент на область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один tool на домен, действие выбирается параметром action</a:t>
            </a:r>
            <a:endParaRPr lang="en-US" sz="1500" dirty="0"/>
          </a:p>
        </p:txBody>
      </p:sp>
      <p:sp>
        <p:nvSpPr>
          <p:cNvPr id="15" name="number"/>
          <p:cNvSpPr/>
          <p:nvPr/>
        </p:nvSpPr>
        <p:spPr>
          <a:xfrm>
            <a:off x="6537960" y="29718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926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Двухшаговый выбор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сначала найти или раскрыть группу, затем получить её схемы. Так устроен tool search</a:t>
            </a:r>
            <a:endParaRPr lang="en-US" sz="1500" dirty="0"/>
          </a:p>
        </p:txBody>
      </p:sp>
      <p:sp>
        <p:nvSpPr>
          <p:cNvPr id="18" name="number"/>
          <p:cNvSpPr/>
          <p:nvPr/>
        </p:nvSpPr>
        <p:spPr>
          <a:xfrm>
            <a:off x="6537960" y="38404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Субагент на область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главный агент делегирует задачу агенту с 5–10 инструментами своей области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Цена: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лишний шаг на каждый вызов и более общая схема аргументов, которую сложнее проверить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3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Перебор с инструментами делает агента хуже, а не умнее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Модели проще дважды выбрать из пяти вариантов, чем один раз из сотни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и грабли эксплуатации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Когда серверов и агентов много, нужна единая точка управления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457200" y="182880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8288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A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457200" y="269748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26974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B</a:t>
            </a:r>
            <a:endParaRPr lang="en-US" sz="1400" dirty="0"/>
          </a:p>
        </p:txBody>
      </p:sp>
      <p:sp>
        <p:nvSpPr>
          <p:cNvPr id="8" name="pill"/>
          <p:cNvSpPr/>
          <p:nvPr/>
        </p:nvSpPr>
        <p:spPr>
          <a:xfrm>
            <a:off x="457200" y="356616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3566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n8n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1920240" y="2103120"/>
            <a:ext cx="457200" cy="868680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1" name="arrow"/>
          <p:cNvSpPr/>
          <p:nvPr/>
        </p:nvSpPr>
        <p:spPr>
          <a:xfrm>
            <a:off x="1920240" y="2971800"/>
            <a:ext cx="457200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 flipV="1">
            <a:off x="1920240" y="2971800"/>
            <a:ext cx="457200" cy="868680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3" name="gateway"/>
          <p:cNvSpPr/>
          <p:nvPr/>
        </p:nvSpPr>
        <p:spPr>
          <a:xfrm>
            <a:off x="2377440" y="1691640"/>
            <a:ext cx="2103120" cy="25603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18288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MCP gateway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авторизация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логи вызовов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allowlist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лимиты и кэш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 flipV="1">
            <a:off x="4480560" y="2103120"/>
            <a:ext cx="457200" cy="868680"/>
          </a:xfrm>
          <a:prstGeom prst="line">
            <a:avLst/>
          </a:prstGeom>
          <a:noFill/>
          <a:ln w="22225">
            <a:solidFill>
              <a:srgbClr val="7B5CC4"/>
            </a:solidFill>
            <a:prstDash val="solid"/>
            <a:tailEnd type="triangle"/>
          </a:ln>
        </p:spPr>
      </p:sp>
      <p:sp>
        <p:nvSpPr>
          <p:cNvPr id="16" name="pill"/>
          <p:cNvSpPr/>
          <p:nvPr/>
        </p:nvSpPr>
        <p:spPr>
          <a:xfrm>
            <a:off x="4937760" y="182880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182880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480560" y="2971800"/>
            <a:ext cx="457200" cy="914"/>
          </a:xfrm>
          <a:prstGeom prst="line">
            <a:avLst/>
          </a:prstGeom>
          <a:noFill/>
          <a:ln w="22225">
            <a:solidFill>
              <a:srgbClr val="7B5CC4"/>
            </a:solidFill>
            <a:prstDash val="solid"/>
            <a:tailEnd type="triangle"/>
          </a:ln>
        </p:spPr>
      </p:sp>
      <p:sp>
        <p:nvSpPr>
          <p:cNvPr id="19" name="pill"/>
          <p:cNvSpPr/>
          <p:nvPr/>
        </p:nvSpPr>
        <p:spPr>
          <a:xfrm>
            <a:off x="4937760" y="269748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0912" y="269748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БД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4480560" y="2971800"/>
            <a:ext cx="457200" cy="868680"/>
          </a:xfrm>
          <a:prstGeom prst="line">
            <a:avLst/>
          </a:prstGeom>
          <a:noFill/>
          <a:ln w="22225">
            <a:solidFill>
              <a:srgbClr val="7B5CC4"/>
            </a:solidFill>
            <a:prstDash val="solid"/>
            <a:tailEnd type="triangle"/>
          </a:ln>
        </p:spPr>
      </p:sp>
      <p:sp>
        <p:nvSpPr>
          <p:cNvPr id="22" name="pill"/>
          <p:cNvSpPr/>
          <p:nvPr/>
        </p:nvSpPr>
        <p:spPr>
          <a:xfrm>
            <a:off x="4937760" y="356616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10912" y="356616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Jira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Агенты ходят к инструментам только через gateway, поэтому каждый вызов можно воспроизвести и проанализировать. Готовые решения: Docker MCP Gateway, MCP-режимы API-шлюзов.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217920" y="1600200"/>
            <a:ext cx="5513832" cy="1874520"/>
          </a:xfrm>
          <a:prstGeom prst="roundRect">
            <a:avLst>
              <a:gd name="adj" fmla="val 58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Версии серверов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2103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сервер обновился, схема инструмента изменилась, сценарии агента сломались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решение: фиксировать версии, проверять изменения схем, держать регрессионные прогоны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217920" y="3657600"/>
            <a:ext cx="5513832" cy="1874520"/>
          </a:xfrm>
          <a:prstGeom prst="roundRect">
            <a:avLst>
              <a:gd name="adj" fmla="val 58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Рейт-лимиты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1605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агент легко делает десятки вызовов в минуту, внешний API отвечает 429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решение: retry с backoff, кэш, бюджет вызовов, понятная ошибка для модели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2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MCP-сервер — это зависимость. Его версионируют, тестируют и мониторят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Безопасность: смертельная триада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Опасно, когда у агента одновременно есть три возможности (Simon Willison)</a:t>
            </a:r>
            <a:endParaRPr lang="en-US" sz="1600" dirty="0"/>
          </a:p>
        </p:txBody>
      </p:sp>
      <p:sp>
        <p:nvSpPr>
          <p:cNvPr id="4" name="venn"/>
          <p:cNvSpPr/>
          <p:nvPr/>
        </p:nvSpPr>
        <p:spPr>
          <a:xfrm>
            <a:off x="1097280" y="1600200"/>
            <a:ext cx="2651760" cy="2651760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venn"/>
          <p:cNvSpPr/>
          <p:nvPr/>
        </p:nvSpPr>
        <p:spPr>
          <a:xfrm>
            <a:off x="457200" y="2880360"/>
            <a:ext cx="2651760" cy="265176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venn"/>
          <p:cNvSpPr/>
          <p:nvPr/>
        </p:nvSpPr>
        <p:spPr>
          <a:xfrm>
            <a:off x="1737360" y="2880360"/>
            <a:ext cx="2651760" cy="2651760"/>
          </a:xfrm>
          <a:prstGeom prst="ellipse">
            <a:avLst/>
          </a:prstGeom>
          <a:solidFill>
            <a:schemeClr val="accent5">
              <a:alpha val="25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Приватные данные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617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Недоверенный контент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709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Канал наружу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120640" y="160020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Атаки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1031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injection в данных: issue с текстом «отправь токены сюда»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tool poisoning: вредные инструкции в описании инструмента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rug pull: сервер меняет поведение после обновления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утечка токенов из конфигов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531352" y="160020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59952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Защита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2" y="21031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минимальные права, read-only токены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подтверждение человеком для записи (HITL)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фиксированные версии и проверенные авторы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песочница и сетевые ограничения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аудит вызовов через gateway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17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Уберите хотя бы одну из трёх возможностей, и самый опасный сценарий исчезнет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Модель не отличает данные от инструкций надёжно, защищает архитектура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и другие расширения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Не только доступ к системам, но и знание того, как делать работу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расширяют агента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 каждого механизма своя задача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5544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185623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FileT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989003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64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AGENTS.md / CLAUDE.md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9080" y="16642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всегда в контексте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0848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постоянный контекст: стек, команды, соглашения проекта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126480" y="15544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6327648" y="1856232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LuScrollTex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989003"/>
            <a:ext cx="337962" cy="3379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664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Slash-команды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9738360" y="16642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по вызову человека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0848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сохранённые промпты: /review, /release-notes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29260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58368" y="3227832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GraduationC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39" y="3360603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035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069080" y="30358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агент подгружает сам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34564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инструкции, скрипты и шаблоны под тип задачи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126480" y="29260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6327648" y="3227832"/>
            <a:ext cx="603504" cy="6035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 LuPl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419" y="3360603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32320" y="3035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MCP-серверы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738360" y="30358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описания в контексте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132320" y="34564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доступ к внешним системам и данным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457200" y="42976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658368" y="4599432"/>
            <a:ext cx="603504" cy="6035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 LuBo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39" y="4732203"/>
            <a:ext cx="337962" cy="33796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4407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Subagents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4069080" y="44074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делегирование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463040" y="48280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отдельный агент со своим контекстом и правами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6126480" y="4297680"/>
            <a:ext cx="5440680" cy="1207008"/>
          </a:xfrm>
          <a:prstGeom prst="roundRect">
            <a:avLst>
              <a:gd name="adj" fmla="val 909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5" name="icon circle"/>
          <p:cNvSpPr/>
          <p:nvPr/>
        </p:nvSpPr>
        <p:spPr>
          <a:xfrm>
            <a:off x="6327648" y="4599432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con LuLo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419" y="4732203"/>
            <a:ext cx="337962" cy="33796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132320" y="4407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Hooks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9738360" y="44074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детерминированно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132320" y="48280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команды на события: форматтер, линтер, запрет действий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1" name="icon LuTarge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Названия у инструментов разные, а идеи общие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Code, OpenCode, Codex и Gemini CLI поддерживают большинство этих механизмов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знание по требованию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Папка с SKILL.md, скриптами и шаблонами. Открытый формат Agent Skills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554480"/>
            <a:ext cx="475488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9019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Метаданные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 и description всех skills всегда в контексте, это десятки токенов на skill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88036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32278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718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Тело SKILL.md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загружается, когда агент решил, что skill подходит к задаче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4206240"/>
            <a:ext cx="5486400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45537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976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Файлы и скрипты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читаются и запускаются только при необходимости</a:t>
            </a:r>
            <a:endParaRPr lang="en-US" sz="1400" dirty="0"/>
          </a:p>
        </p:txBody>
      </p:sp>
      <p:sp>
        <p:nvSpPr>
          <p:cNvPr id="16" name="code block"/>
          <p:cNvSpPr/>
          <p:nvPr/>
        </p:nvSpPr>
        <p:spPr>
          <a:xfrm>
            <a:off x="6172200" y="1554480"/>
            <a:ext cx="5559552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691640"/>
            <a:ext cx="519379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django-feature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Добавление фичи в Django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ToDo по контракту. Используй, когда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просят новую функциональность.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Как добавлять фичу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Требования и контракт 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docs/features/&lt;name&gt;.md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Сначала тесты (pytest-django),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убедись, что они падают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Модель, view, шаблон, миграции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Запусти scripts/check.sh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Опиши, что изменено и проверено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19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Skill — это процесс команды, записанный так, чтобы агент мог ему следовать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Description решает всё: по нему агент понимает, когда skill нужен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SKILL.md попадает в контекст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Тело skill — обычный текст, который host вставляет в разговор, когда модель попросит</a:t>
            </a:r>
            <a:endParaRPr lang="en-US" sz="1600" dirty="0"/>
          </a:p>
        </p:txBody>
      </p:sp>
      <p:sp>
        <p:nvSpPr>
          <p:cNvPr id="4" name="number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8132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Старт сессии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host находит папки skills (проекта, пользователя, плагинов) и читает только frontmatter</a:t>
            </a:r>
            <a:endParaRPr lang="en-US" sz="1500" dirty="0"/>
          </a:p>
        </p:txBody>
      </p:sp>
      <p:sp>
        <p:nvSpPr>
          <p:cNvPr id="7" name="number"/>
          <p:cNvSpPr/>
          <p:nvPr/>
        </p:nvSpPr>
        <p:spPr>
          <a:xfrm>
            <a:off x="457200" y="2340864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6771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Каталог в контексте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name и description всех skills попадают в описание инструмента Skill или в системный промпт</a:t>
            </a:r>
            <a:endParaRPr lang="en-US" sz="1500" dirty="0"/>
          </a:p>
        </p:txBody>
      </p:sp>
      <p:sp>
        <p:nvSpPr>
          <p:cNvPr id="10" name="number"/>
          <p:cNvSpPr/>
          <p:nvPr/>
        </p:nvSpPr>
        <p:spPr>
          <a:xfrm>
            <a:off x="457200" y="3127248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5409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Модель выбирает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 description решает, что skill нужен, и вызывает Skill с его именем</a:t>
            </a:r>
            <a:endParaRPr lang="en-US" sz="1500" dirty="0"/>
          </a:p>
        </p:txBody>
      </p:sp>
      <p:sp>
        <p:nvSpPr>
          <p:cNvPr id="13" name="number"/>
          <p:cNvSpPr/>
          <p:nvPr/>
        </p:nvSpPr>
        <p:spPr>
          <a:xfrm>
            <a:off x="457200" y="391363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4048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Host вставляет тело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читает SKILL.md и добавляет его в разговор вместе с путём к папке skill</a:t>
            </a:r>
            <a:endParaRPr lang="en-US" sz="1500" dirty="0"/>
          </a:p>
        </p:txBody>
      </p:sp>
      <p:sp>
        <p:nvSpPr>
          <p:cNvPr id="16" name="number"/>
          <p:cNvSpPr/>
          <p:nvPr/>
        </p:nvSpPr>
        <p:spPr>
          <a:xfrm>
            <a:off x="457200" y="4700016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700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62686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Остальное по ссылкам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файлы из папки модель читает через Read, скрипты запускает через Bash: в контекст попадает только их вывод</a:t>
            </a:r>
            <a:endParaRPr lang="en-US" sz="1500" dirty="0"/>
          </a:p>
        </p:txBody>
      </p:sp>
      <p:sp>
        <p:nvSpPr>
          <p:cNvPr id="19" name="code block"/>
          <p:cNvSpPr/>
          <p:nvPr/>
        </p:nvSpPr>
        <p:spPr>
          <a:xfrm>
            <a:off x="6263640" y="1481328"/>
            <a:ext cx="5468112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618488"/>
            <a:ext cx="5102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всегда в контексте: описание инструмента Skill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skills: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django-feature: Добавление фичи в Django ToDo...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Skill {"skill": "django-feature"}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Launching skill: django-feature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сообщение в разговоре: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directory: .claude/skills/django-feature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Как добавлять фичу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Требования и контракт в docs/features/...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Bash {"command": "scripts/check.sh"}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6263640" y="4617720"/>
            <a:ext cx="5468112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663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 других агентах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отдельного инструмента может не быть: в промпте лежат пути к SKILL.md, и модель читает файл сама. Пользователь может вызвать skill явно: /django-feature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Загруженный skill остаётся в разговоре до конца сессии или до сжатия контекста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Поэтому SKILL.md держат коротким, а подробности выносят в отдельные файлы папки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MCP, Skill или hook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Как выбрать механизм под задачу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LuPl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9238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MCP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даёт доступ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Агенту нужны данные или действия во внешней системе: задачи из Jira, запросы к БД, клики в браузере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06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«Возьми задачу PROJ-42 и посмотри логи в Sentry»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29768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LuGraduationC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9238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Skill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даёт знание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Агенту нужно знать, как в команде принято делать работу: шаги, шаблоны, проверки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206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«Добавь фичу так, как у нас принято»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138160" y="1600200"/>
            <a:ext cx="3593592" cy="3931920"/>
          </a:xfrm>
          <a:prstGeom prst="roundRect">
            <a:avLst>
              <a:gd name="adj" fmla="val 305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8412480" y="1783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 Lu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19238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972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даёт гарантию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Действие должно выполняться всегда, без надежды на то, что модель вспомнит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206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«После каждой правки запускай ruff и запрещай git push --force»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3" name="icon Lu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Доступ, знание, гарантия. Хорошая настройка агента обычно использует все три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в процесс разработки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IDE, Git, CI/CD и корпоративные сервисы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 на каждом этапе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 задачи в трекере до релиза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2084832" cy="3931920"/>
          </a:xfrm>
          <a:prstGeom prst="roundRect">
            <a:avLst>
              <a:gd name="adj" fmla="val 526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179576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SquareKanba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19238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Трекер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читает задачу, уточняет требования, обновляет статус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6634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Jira / YouTrack MCP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2542032" y="3566160"/>
            <a:ext cx="201168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2743200" y="1600200"/>
            <a:ext cx="2084832" cy="3931920"/>
          </a:xfrm>
          <a:prstGeom prst="roundRect">
            <a:avLst>
              <a:gd name="adj" fmla="val 526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3465576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LuMonit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94" y="19238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34640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926080" y="3063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пишет код, видит диагностику IDE и открытые файлы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880360" y="46634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VS Code, JetBrains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4828032" y="3566160"/>
            <a:ext cx="201168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5029200" y="1600200"/>
            <a:ext cx="2084832" cy="3931920"/>
          </a:xfrm>
          <a:prstGeom prst="roundRect">
            <a:avLst>
              <a:gd name="adj" fmla="val 526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5751576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 LuGitBran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94" y="192389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20640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063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ветка, коммиты, PR с описанием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166360" y="46634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gh CLI или GitHub MCP</a:t>
            </a:r>
            <a:endParaRPr lang="en-US" sz="1200" dirty="0"/>
          </a:p>
        </p:txBody>
      </p:sp>
      <p:sp>
        <p:nvSpPr>
          <p:cNvPr id="24" name="arrow"/>
          <p:cNvSpPr/>
          <p:nvPr/>
        </p:nvSpPr>
        <p:spPr>
          <a:xfrm>
            <a:off x="7114032" y="3566160"/>
            <a:ext cx="201168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card"/>
          <p:cNvSpPr/>
          <p:nvPr/>
        </p:nvSpPr>
        <p:spPr>
          <a:xfrm>
            <a:off x="7315200" y="1600200"/>
            <a:ext cx="2084832" cy="3931920"/>
          </a:xfrm>
          <a:prstGeom prst="roundRect">
            <a:avLst>
              <a:gd name="adj" fmla="val 526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6" name="icon circle"/>
          <p:cNvSpPr/>
          <p:nvPr/>
        </p:nvSpPr>
        <p:spPr>
          <a:xfrm>
            <a:off x="8037576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con LuRock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4" y="192389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CI/CD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98080" y="3063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ревьюит PR, чинит упавшие проверки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46634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headless-режим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9400032" y="3566160"/>
            <a:ext cx="201168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card"/>
          <p:cNvSpPr/>
          <p:nvPr/>
        </p:nvSpPr>
        <p:spPr>
          <a:xfrm>
            <a:off x="9601200" y="1600200"/>
            <a:ext cx="2084832" cy="3931920"/>
          </a:xfrm>
          <a:prstGeom prst="roundRect">
            <a:avLst>
              <a:gd name="adj" fmla="val 5263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3" name="icon circle"/>
          <p:cNvSpPr/>
          <p:nvPr/>
        </p:nvSpPr>
        <p:spPr>
          <a:xfrm>
            <a:off x="10323576" y="17830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4" name="icon LuBookOpe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394" y="1923898"/>
            <a:ext cx="358445" cy="35844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692640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Документация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3063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обновляет README, changelog, Confluence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9738360" y="46634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Confluence MCP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9" name="icon LuTarge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и GitHub часто удобнее через CLI: агент уже умеет терминал, а токенов уходит меньше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 нужен там, где нет хорошего CLI или нужен контроль доступа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агент в CI/CD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Headless-режим: агент запускается без человека, по событию</a:t>
            </a:r>
            <a:endParaRPr lang="en-US" sz="1600" dirty="0"/>
          </a:p>
        </p:txBody>
      </p:sp>
      <p:sp>
        <p:nvSpPr>
          <p:cNvPr id="4" name="code block"/>
          <p:cNvSpPr/>
          <p:nvPr/>
        </p:nvSpPr>
        <p:spPr>
          <a:xfrm>
            <a:off x="457200" y="1554480"/>
            <a:ext cx="603504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669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pull_request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pull-requests: write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anthropics/claude-code-action@v1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anthropic_api_key: ${{ secrets.KEY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prompt: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Проведи ревью PR по чек-листу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из skill code-review.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Сценарии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965960"/>
            <a:ext cx="4919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ревью каждого PR по чек-листу команды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починка упавшего CI и коммит в ветку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задача из issue → черновой PR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ночные задачи: обновить зависимости, changelog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Правила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4160520"/>
            <a:ext cx="4919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минимальные permissions у job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бюджет токенов и шагов, таймаут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мержит человек, а не агент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1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Тот же агент, что у разработчика, но без человека рядом. Поэтому права и бюджет важнее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агент работает в CI/CD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 события в репозитории до решения человека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508760"/>
            <a:ext cx="1965960" cy="1965960"/>
          </a:xfrm>
          <a:prstGeom prst="roundRect">
            <a:avLst>
              <a:gd name="adj" fmla="val 558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207008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GitPullReques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7465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Событие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60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открыт PR, упал CI, issue получил метку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441448" y="2487168"/>
            <a:ext cx="329184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788920" y="1508760"/>
            <a:ext cx="1965960" cy="1965960"/>
          </a:xfrm>
          <a:prstGeom prst="roundRect">
            <a:avLst>
              <a:gd name="adj" fmla="val 558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538728" y="1645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LuSer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465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0360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Job в CI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2560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checkout, секреты, агент фиксированной версии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4773168" y="2487168"/>
            <a:ext cx="329184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5120640" y="1508760"/>
            <a:ext cx="1965960" cy="1965960"/>
          </a:xfrm>
          <a:prstGeom prst="roundRect">
            <a:avLst>
              <a:gd name="adj" fmla="val 558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5870448" y="1645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 LuRefreshC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7465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Цикл агента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2560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(API или vLLM) ↔ код, diff, тесты, MCP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104888" y="2487168"/>
            <a:ext cx="329184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7452360" y="1508760"/>
            <a:ext cx="1965960" cy="1965960"/>
          </a:xfrm>
          <a:prstGeom prst="roundRect">
            <a:avLst>
              <a:gd name="adj" fmla="val 558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8202168" y="16459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con LuMessageSqua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7465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Результат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3800" y="2560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ревью в PR, коммит в ветку, черновой PR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9436608" y="2487168"/>
            <a:ext cx="329184" cy="914"/>
          </a:xfrm>
          <a:prstGeom prst="line">
            <a:avLst/>
          </a:prstGeom>
          <a:noFill/>
          <a:ln w="22225">
            <a:solidFill>
              <a:srgbClr val="2F6FDE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784080" y="1508760"/>
            <a:ext cx="1965960" cy="1965960"/>
          </a:xfrm>
          <a:prstGeom prst="roundRect">
            <a:avLst>
              <a:gd name="adj" fmla="val 558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10533888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 LuUser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74650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75520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Человек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75520" y="2560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проверяет и решает, мержить ли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457200" y="3657600"/>
            <a:ext cx="3639312" cy="1874520"/>
          </a:xfrm>
          <a:prstGeom prst="roundRect">
            <a:avLst>
              <a:gd name="adj" fmla="val 58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858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Что даём агенту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85800" y="41605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код и diff изменений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запуск тестов и линтера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MCP только на чтение: Jira, документация</a:t>
            </a:r>
            <a:endParaRPr lang="en-US" sz="1500" dirty="0"/>
          </a:p>
        </p:txBody>
      </p:sp>
      <p:sp>
        <p:nvSpPr>
          <p:cNvPr id="36" name="card"/>
          <p:cNvSpPr/>
          <p:nvPr/>
        </p:nvSpPr>
        <p:spPr>
          <a:xfrm>
            <a:off x="4279392" y="3657600"/>
            <a:ext cx="3639312" cy="1874520"/>
          </a:xfrm>
          <a:prstGeom prst="roundRect">
            <a:avLst>
              <a:gd name="adj" fmla="val 58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507992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Чего не даём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4507992" y="41605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секреты продакшена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push в main и мерж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сеть наружу, кроме API модели</a:t>
            </a:r>
            <a:endParaRPr lang="en-US" sz="1500" dirty="0"/>
          </a:p>
        </p:txBody>
      </p:sp>
      <p:sp>
        <p:nvSpPr>
          <p:cNvPr id="39" name="card"/>
          <p:cNvSpPr/>
          <p:nvPr/>
        </p:nvSpPr>
        <p:spPr>
          <a:xfrm>
            <a:off x="8101584" y="3657600"/>
            <a:ext cx="3639312" cy="1874520"/>
          </a:xfrm>
          <a:prstGeom prst="roundRect">
            <a:avLst>
              <a:gd name="adj" fmla="val 58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330184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Ограничения job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8330184" y="41605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timeout-minutes и лимит шагов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фиксированные версии агента и промпта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лог прогона в артефакты</a:t>
            </a:r>
            <a:endParaRPr lang="en-US" sz="1500" dirty="0"/>
          </a:p>
        </p:txBody>
      </p:sp>
      <p:sp>
        <p:nvSpPr>
          <p:cNvPr id="42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3" name="icon LuTarge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запускает агента, агент предлагает изменения, решает человек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Код и текст PR — недоверенный вход, а в job есть секреты. Поэтому права режем до минимума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агент и Jira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Задача из трекера → код → статус и комментарий обратно в Jira</a:t>
            </a:r>
            <a:endParaRPr lang="en-US" sz="1600" dirty="0"/>
          </a:p>
        </p:txBody>
      </p:sp>
      <p:sp>
        <p:nvSpPr>
          <p:cNvPr id="4" name="number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«Возьми PROJ-42»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jira_get_issue: описание, критерии приёмки, комментарии, связанные задачи</a:t>
            </a:r>
            <a:endParaRPr lang="en-US" sz="1500" dirty="0"/>
          </a:p>
        </p:txBody>
      </p:sp>
      <p:sp>
        <p:nvSpPr>
          <p:cNvPr id="7" name="number"/>
          <p:cNvSpPr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76856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Уточнение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если критерии неполные, агент спрашивает человека, а не додумывает</a:t>
            </a:r>
            <a:endParaRPr lang="en-US" sz="1500" dirty="0"/>
          </a:p>
        </p:txBody>
      </p:sp>
      <p:sp>
        <p:nvSpPr>
          <p:cNvPr id="10" name="number"/>
          <p:cNvSpPr/>
          <p:nvPr/>
        </p:nvSpPr>
        <p:spPr>
          <a:xfrm>
            <a:off x="457200" y="31638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9067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Работа в репозитории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ветка PROJ-42-search, тесты, код, PR с ключом задачи в названии</a:t>
            </a:r>
            <a:endParaRPr lang="en-US" sz="1500" dirty="0"/>
          </a:p>
        </p:txBody>
      </p:sp>
      <p:sp>
        <p:nvSpPr>
          <p:cNvPr id="13" name="number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04488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Обратно в Jira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jira_add_comment со ссылкой на PR, jira_transition_issue → In Review</a:t>
            </a:r>
            <a:endParaRPr lang="en-US" sz="1500" dirty="0"/>
          </a:p>
        </p:txBody>
      </p:sp>
      <p:sp>
        <p:nvSpPr>
          <p:cNvPr id="16" name="number"/>
          <p:cNvSpPr/>
          <p:nvPr/>
        </p:nvSpPr>
        <p:spPr>
          <a:xfrm>
            <a:off x="457200" y="479145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791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718304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Контекст из Confluence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тот же сервер читает требования и ADR, на которые ссылается задача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4173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Jira Server / Data Center за VPN: локальный mcp-atlassian</a:t>
            </a:r>
            <a:endParaRPr lang="en-US" sz="1300" dirty="0"/>
          </a:p>
        </p:txBody>
      </p:sp>
      <p:sp>
        <p:nvSpPr>
          <p:cNvPr id="20" name="code block"/>
          <p:cNvSpPr/>
          <p:nvPr/>
        </p:nvSpPr>
        <p:spPr>
          <a:xfrm>
            <a:off x="6263640" y="1691640"/>
            <a:ext cx="5468112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1828800"/>
            <a:ext cx="5102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{"mcpServers": {"jira":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"uvx",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["mcp-atlassian==&lt;версия&gt;"],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"env":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"JIRA_URL": "https://jira.company.ru",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"JIRA_PERSONAL_TOKEN": "${JIRA_PAT}",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"JIRA_PROJECTS_FILTER": "PROJ",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"ENABLED_TOOLS": "jira_get_issue,jira_search,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jira_add_comment,jira_transition_issue"}}}}</a:t>
            </a:r>
            <a:endParaRPr lang="en-US" sz="1250" dirty="0"/>
          </a:p>
        </p:txBody>
      </p:sp>
      <p:sp>
        <p:nvSpPr>
          <p:cNvPr id="22" name="card"/>
          <p:cNvSpPr/>
          <p:nvPr/>
        </p:nvSpPr>
        <p:spPr>
          <a:xfrm>
            <a:off x="6263640" y="4160520"/>
            <a:ext cx="5468112" cy="1371600"/>
          </a:xfrm>
          <a:prstGeom prst="roundRect">
            <a:avLst>
              <a:gd name="adj" fmla="val 8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224528"/>
            <a:ext cx="5166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Jira Cloud: официальный удалённый MCP-сервер Atlassian с OAuth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 сервисной учётки с доступом к одному проекту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сначала READ_ONLY_MODE, запись включают по списку ENABLED_TOOLS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5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Jira даёт агенту контекст задачи, а агент возвращает в неё результат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Начинайте с чтения: уже это снимает с разработчика копирование задачи в промпт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AI-автоматизация и n8n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Когда процесс должен быть предсказуемым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или агент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Спектр между предсказуемостью и автономностью</a:t>
            </a:r>
            <a:endParaRPr lang="en-US" sz="1600" dirty="0"/>
          </a:p>
        </p:txBody>
      </p:sp>
      <p:sp>
        <p:nvSpPr>
          <p:cNvPr id="4" name="spectrum"/>
          <p:cNvSpPr/>
          <p:nvPr/>
        </p:nvSpPr>
        <p:spPr>
          <a:xfrm>
            <a:off x="457200" y="2194560"/>
            <a:ext cx="11277295" cy="548640"/>
          </a:xfrm>
          <a:prstGeom prst="rtTriangl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предсказуемость, стоимость, отладка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62495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гибкость, автономность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971800"/>
            <a:ext cx="2084832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0632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Скрипт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жёсткая логика, без LLM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743200" y="2971800"/>
            <a:ext cx="2084832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30632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шаги и ветвления заданы заранее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029200" y="2971800"/>
            <a:ext cx="2084832" cy="1463040"/>
          </a:xfrm>
          <a:prstGeom prst="roundRect">
            <a:avLst>
              <a:gd name="adj" fmla="val 75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30632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Workflow + LLM-шаги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классифицирует, извлекает, пишет текст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315200" y="2971800"/>
            <a:ext cx="2084832" cy="1463040"/>
          </a:xfrm>
          <a:prstGeom prst="roundRect">
            <a:avLst>
              <a:gd name="adj" fmla="val 75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30632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Агент внутри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свобода только на одном шаге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9601200" y="2971800"/>
            <a:ext cx="2084832" cy="1463040"/>
          </a:xfrm>
          <a:prstGeom prst="roundRect">
            <a:avLst>
              <a:gd name="adj" fmla="val 75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30632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Автономный агент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сам выбирает шаги и инструменты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634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Как выбрать: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если шаги процесса известны заранее, нужен workflow. Агент нужен, когда шаги зависят от содержимого задачи. Начинайте с самого левого варианта, который решает задачу.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19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Большая часть бизнес-автоматизации — это workflow с одним-двумя LLM-шагами, а не агент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n8n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Open-source платформа автоматизации, можно развернуть у себя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063240" cy="1810512"/>
          </a:xfrm>
          <a:prstGeom prst="roundRect">
            <a:avLst>
              <a:gd name="adj" fmla="val 606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Z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Триггер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webhook, расписание, событие в GitHub, письмо, сообщение в Telegram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703320" y="1600200"/>
            <a:ext cx="3063240" cy="1810512"/>
          </a:xfrm>
          <a:prstGeom prst="roundRect">
            <a:avLst>
              <a:gd name="adj" fmla="val 606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LuWorkfl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621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Ноды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сотни готовых коннекторов, HTTP-запросы, код на JS и Python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3611880"/>
            <a:ext cx="3063240" cy="1810512"/>
          </a:xfrm>
          <a:prstGeom prst="roundRect">
            <a:avLst>
              <a:gd name="adj" fmla="val 606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85800" y="3840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LuKeyRoun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9611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Credentials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4805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секреты хранятся отдельно от workflow и не попадают в экспорт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703320" y="3611880"/>
            <a:ext cx="3063240" cy="1810512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393192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on LuBrai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621" y="39611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177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AI-ноды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3931920" y="44805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LLM-цепочки, AI Agent, память, векторные хранилища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7086600" y="1600200"/>
            <a:ext cx="4645152" cy="3822192"/>
          </a:xfrm>
          <a:prstGeom prst="roundRect">
            <a:avLst>
              <a:gd name="adj" fmla="val 287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3609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Почему n8n в курсе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360920" y="2194560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можно развернуть в своём контуре (docker), данные не уходят наружу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визуально видно каждый шаг и его данные, удобно отлаживать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поддерживает MCP в обе стороны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workflow экспортируется в JSON и хранится в git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8" name="icon Lu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Альтернативы: Make, Zapier (облако), Dify, Flowise, Langflow (LLM-first), Temporal (код)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как шаг workflow и AI Agent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Две роли модели внутри n8n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LLM-шаг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одна задача: классифицировать, извлечь поля, суммаризировать, перевести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structured output: ответ по JSON-схеме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дальше обычные ноды и ветвления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270248" y="160020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Нода AI Agent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945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модель + память + инструменты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инструменты: другие ноды, workflow или MCP-сервер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сам решает, какие инструменты вызвать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074152" y="160020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n8n и MCP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1945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MCP Client Tool: агент в n8n пользуется внешним MCP-сервером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MCP Server Trigger: workflow n8n становится инструментом для Claude Code или IDE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4" name="icon 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Workflow из n8n можно отдать агенту как MCP-инструмент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Так проверенный процесс становится одним надёжным вызовом вместо десятка шагов агента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Демо: разбор новых issue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→ LLM-классификация → заметки и бэклог в Obsidian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265176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143000" y="2788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GitBran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2909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383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Webhook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новый issue из GitHub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2743200" y="265176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429000" y="27889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 LuBra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29096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3383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LLM-шаг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тип, приоритет, краткое описание (JSON)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029200" y="265176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5715000" y="27889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con LuNetwor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01" y="29096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3383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Switch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 типу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377440" y="3520440"/>
            <a:ext cx="36576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4663440" y="3520440"/>
            <a:ext cx="36576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 flipV="1">
            <a:off x="6949440" y="2148840"/>
            <a:ext cx="457200" cy="13716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card"/>
          <p:cNvSpPr/>
          <p:nvPr/>
        </p:nvSpPr>
        <p:spPr>
          <a:xfrm>
            <a:off x="7406640" y="160020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543800" y="1901952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on LuB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442" y="2012594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3816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bug → заметка-задача в Obsidian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9784080" y="2148840"/>
            <a:ext cx="365760" cy="13716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 flipV="1">
            <a:off x="6949440" y="3474720"/>
            <a:ext cx="457200" cy="457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card"/>
          <p:cNvSpPr/>
          <p:nvPr/>
        </p:nvSpPr>
        <p:spPr>
          <a:xfrm>
            <a:off x="7406640" y="292608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6" name="icon circle"/>
          <p:cNvSpPr/>
          <p:nvPr/>
        </p:nvSpPr>
        <p:spPr>
          <a:xfrm>
            <a:off x="7543800" y="322783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con LuMessageSquar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442" y="3338474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38160" y="2971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 → черновик ответа в Obsidian</a:t>
            </a:r>
            <a:endParaRPr lang="en-US" sz="1400" dirty="0"/>
          </a:p>
        </p:txBody>
      </p:sp>
      <p:sp>
        <p:nvSpPr>
          <p:cNvPr id="29" name="arrow"/>
          <p:cNvSpPr/>
          <p:nvPr/>
        </p:nvSpPr>
        <p:spPr>
          <a:xfrm>
            <a:off x="9784080" y="3474720"/>
            <a:ext cx="365760" cy="457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949440" y="3520440"/>
            <a:ext cx="457200" cy="12801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card"/>
          <p:cNvSpPr/>
          <p:nvPr/>
        </p:nvSpPr>
        <p:spPr>
          <a:xfrm>
            <a:off x="7406640" y="425196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2" name="icon circle"/>
          <p:cNvSpPr/>
          <p:nvPr/>
        </p:nvSpPr>
        <p:spPr>
          <a:xfrm>
            <a:off x="7543800" y="45537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con LuListCheck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442" y="4664354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138160" y="4297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→ строка в Backlog.md</a:t>
            </a:r>
            <a:endParaRPr lang="en-US" sz="1400" dirty="0"/>
          </a:p>
        </p:txBody>
      </p:sp>
      <p:sp>
        <p:nvSpPr>
          <p:cNvPr id="35" name="arrow"/>
          <p:cNvSpPr/>
          <p:nvPr/>
        </p:nvSpPr>
        <p:spPr>
          <a:xfrm flipV="1">
            <a:off x="9784080" y="3520440"/>
            <a:ext cx="365760" cy="12801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card"/>
          <p:cNvSpPr/>
          <p:nvPr/>
        </p:nvSpPr>
        <p:spPr>
          <a:xfrm>
            <a:off x="10149840" y="2651760"/>
            <a:ext cx="1581912" cy="1737360"/>
          </a:xfrm>
          <a:prstGeom prst="roundRect">
            <a:avLst>
              <a:gd name="adj" fmla="val 6936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7" name="icon circle"/>
          <p:cNvSpPr/>
          <p:nvPr/>
        </p:nvSpPr>
        <p:spPr>
          <a:xfrm>
            <a:off x="10661904" y="27889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8" name="icon LuSen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605" y="2909621"/>
            <a:ext cx="307238" cy="30723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195560" y="338328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Telegram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сводка команде</a:t>
            </a:r>
            <a:endParaRPr lang="en-US" sz="1500" dirty="0"/>
          </a:p>
        </p:txBody>
      </p:sp>
      <p:sp>
        <p:nvSpPr>
          <p:cNvPr id="40" name="card"/>
          <p:cNvSpPr/>
          <p:nvPr/>
        </p:nvSpPr>
        <p:spPr>
          <a:xfrm>
            <a:off x="457200" y="5779008"/>
            <a:ext cx="11277295" cy="658368"/>
          </a:xfrm>
          <a:prstGeom prst="roundRect">
            <a:avLst>
              <a:gd name="adj" fmla="val 1666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41" name="icon LuTarge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879592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325880" y="581558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LLM принимает одно узкое решение, остальное делает предсказуемая логика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Каждый шаг видно и можно проверить, как в TITL с прошлых занятий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Инструмент — это контракт. Описание и ошибки проектируют как API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0740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MCP стандартизирует доступ: host, client, server; tools, resources, prompts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8289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Инструменты стоят контекста и денег. Мерить pass rate и стоимость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5838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Доступ — MCP, знание — Skill, гарантия — hook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338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Шаги известны заранее — workflow (n8n). Не известны — агент</a:t>
            </a:r>
            <a:endParaRPr lang="en-US" sz="1800" dirty="0"/>
          </a:p>
        </p:txBody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D Lecture 4">
  <a:themeElements>
    <a:clrScheme name="AIDD Lecture 4">
      <a:dk1>
        <a:srgbClr val="1F2937"/>
      </a:dk1>
      <a:lt1>
        <a:srgbClr val="FFFFFF"/>
      </a:lt1>
      <a:dk2>
        <a:srgbClr val="1B2A4A"/>
      </a:dk2>
      <a:lt2>
        <a:srgbClr val="F1F5FA"/>
      </a:lt2>
      <a:accent1>
        <a:srgbClr val="2F6FDE"/>
      </a:accent1>
      <a:accent2>
        <a:srgbClr val="E07A2E"/>
      </a:accent2>
      <a:accent3>
        <a:srgbClr val="2E9E5B"/>
      </a:accent3>
      <a:accent4>
        <a:srgbClr val="7B5CC4"/>
      </a:accent4>
      <a:accent5>
        <a:srgbClr val="C0392B"/>
      </a:accent5>
      <a:accent6>
        <a:srgbClr val="0E9AA7"/>
      </a:accent6>
      <a:hlink>
        <a:srgbClr val="2F6FDE"/>
      </a:hlink>
      <a:folHlink>
        <a:srgbClr val="7B5CC4"/>
      </a:folHlink>
    </a:clrScheme>
    <a:fontScheme name="AIDD Lecture 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4. MCP, Tools, Skills и AI Automation</dc:title>
  <dc:subject>PptxGenJS Presentation</dc:subject>
  <dc:creator>AIDD</dc:creator>
  <cp:lastModifiedBy>AIDD</cp:lastModifiedBy>
  <cp:revision>1</cp:revision>
  <dcterms:created xsi:type="dcterms:W3CDTF">2026-10-22T15:51:00Z</dcterms:created>
  <dcterms:modified xsi:type="dcterms:W3CDTF">2026-10-22T15:51:00Z</dcterms:modified>
</cp:coreProperties>
</file>